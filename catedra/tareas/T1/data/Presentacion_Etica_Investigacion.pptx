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8" roundtripDataSignature="AMtx7mhwB6ayaKCJelKTI2qoPfqyDMsD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C9DAFC-9510-4700-B124-3DB487F78BF7}">
  <a:tblStyle styleId="{BAC9DAFC-9510-4700-B124-3DB487F78BF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TIEMPO: 0:00 - 0:30 | EXPOSITOR: Integrante 1 (Gonzalo o quien abra)</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GUION: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Buenos días profesor y compañeros. Hoy nuestro grupo, compuesto por Diego Fernández, Iván Fernández, Pablo Figueroa y quien les habla, presentará la primera evaluación de ética en investigación. Analizaremos dos casos reales de alta controversia centrados en la publicación como producto: el histórico caso de Jan Hendrik Schön en física del estado sólido, y el contemporáneo escándalo de retracciones masivas en la ACM dentro de las ciencias de la computación.</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TIEMPO: 0:30 - 1:30 | EXPOSITOR: Integrante 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GUION: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Para analizar estos casos, nos basamos en dos documentos clave: la Declaración de Singapur y la guía On Being a Scientist de las Academias Nacionales de EE. UU. El marco ético tradicional define la mala conducta en la tríada FFP: Fabricación, Falsificación y Plagio. Además, Singapur exige que los datos crudos sean custodiados celosamente para permitir su reproducción y que la autoría represente una responsabilidad solidaria ineludible. Es vital recordar que en esta primera unidad nos concentramos en la publicación como producto formal, diferenciando el fraude artesanal clásico del fraude industrializado que vemos hoy en informática.</a:t>
            </a:r>
            <a:endParaRPr/>
          </a:p>
        </p:txBody>
      </p:sp>
      <p:sp>
        <p:nvSpPr>
          <p:cNvPr id="93" name="Google Shape;93;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TIEMPO: 1:30 - 2:30 | EXPOSITOR: Integrante 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GUION: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Entrando al primer caso: Jan Hendrik Schön en Bell Labs. A finales de los años 90, Schön era la máxima promesa de la nanotecnología mundial. Afirmaba haber creado transistores del tamaño de una sola molécula orgánica y superconductores revolucionarios, publicando un paper cada ocho días en Science y Nature. A su lado estaba Bertram Batlogg, un titán de la física experimental, cuya presencia otorgó credibilidad ciega a los trabajos. El prestigio institucional de Bell Labs creó una burbuja donde nadie cuestionaba los milagrosos resultados experimentales que solo Schön era capaz de obtener. Doy el pase a mi compañero para explicar cómo se gestó y descubrió el fraude.</a:t>
            </a:r>
            <a:endParaRPr/>
          </a:p>
        </p:txBody>
      </p:sp>
      <p:sp>
        <p:nvSpPr>
          <p:cNvPr id="106" name="Google Shape;10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TIEMPO: 2:30 - 3:45 | EXPOSITOR: Integrante 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GUION: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Gracias. Al profundizar en el caso Schön, nos encontramos con la vulneración más descarada de la conducta responsable en investigación, citada textualmente en la página 35 de On Being a Scientist. Schön no hacía ciencia experimental: generaba curvas con funciones matemáticas ideales en su ordenador y les añadía ruido aleatorio para que parecieran reales. Cuando la comisión de Bell Labs le exigió los registros crudos, su respuesta fue insólita: afirmó que había borrado todos los datos primarios de su disco duro porque no tenía espacio, que no llevaba bitácoras de laboratorio y que había botado todos los chips a la basura. Esto rompe de raíz los principios de honestidad y la responsabilidad número 4 de Singapur sobre custodia de datos.</a:t>
            </a:r>
            <a:endParaRPr/>
          </a:p>
        </p:txBody>
      </p:sp>
      <p:sp>
        <p:nvSpPr>
          <p:cNvPr id="117" name="Google Shape;117;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TIEMPO: 3:45 - 5:00 | EXPOSITOR: Integrante 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GUION: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¿Cómo cayó este castillo de naipes? No fue por los revisores de Science ni Nature, sino por la comunidad científica al intentar replicarlo. Tras años de fracasos en Harvard y Cornell, la física Lydia Sohn y Paul McEuen notaron algo increíble: dos publicaciones de Schön sobre materiales y temperaturas completamente distintas compartían exactamente el mismo patrón de ruido térmico en sus gráficos. Físicamente es imposible que dos mediciones reales tengan el mismo ruido; era una burda copia. Bell Labs formó el Comité Beasley, que confirmó fraude en 16 papers. Schön fue despedido, perdió su doctorado en la Universidad de Konstanz y las revistas retractaron decenas de papers. Ahora pasamos al segundo caso, donde el fraude ya no es artesanal, sino computacional.</a:t>
            </a:r>
            <a:endParaRPr/>
          </a:p>
        </p:txBody>
      </p:sp>
      <p:sp>
        <p:nvSpPr>
          <p:cNvPr id="128" name="Google Shape;128;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TIEMPO: 5:00 - 6:15 | EXPOSITOR: Integrante 3</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GUION: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Entramos ahora al caso de informática: el escándalo de retracciones masivas en la ACM entre 2021 y 2022. La ACM es la sociedad de ciencias de la computación más prestigiosa del mundo, hogar de los Premios Turing. Sin embargo, sus actas de congresos internacionales como ICICN e ICISS fueron víctimas de una nueva modalidad de fraude: los 'Paper Mills' o fábricas de artículos. Ya no se trata de un investigador en solitario, sino de organizaciones ilícitas que producían cientos de artículos ficticios y subastaban las autorías en redes sociales por miles de dólares. Investigadores compraban ser primer autor para graduarse u obtener ascensos sin haber escrito una sola línea de código.</a:t>
            </a:r>
            <a:endParaRPr/>
          </a:p>
        </p:txBody>
      </p:sp>
      <p:sp>
        <p:nvSpPr>
          <p:cNvPr id="139" name="Google Shape;139;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TIEMPO: 6:15 - 7:30 | EXPOSITOR: Integrante 3</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GUION: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¿Cómo lograban estos artículos pasar los filtros antiplagio como Turnitin? Utilizaban software de parafraseo automático. Pero al no entender la jerga técnica de computación, el software inventó lo que hoy conocemos como 'Tortured Phrases'. En plena conferencia de IA, 'Artificial Intelligence' fue traducido como 'Counterfeit Consciousness' o conciencia falsificada; 'Deep Learning' como 'Profound Learning', y el algoritmo 'Random Forest' se transformó en 'Arbitrary Timberland', una zona boscosa arbitraria. A pesar de estos disparates, fueron aprobados formalmente. ¿Por qué? Porque controlaban los 'Peer-Review Rings': cuentas falsas de revisores que aprobaban los papers en 48 horas sin leerlos. Mi compañero explicará cómo se desenmascaró esta red.</a:t>
            </a:r>
            <a:endParaRPr/>
          </a:p>
        </p:txBody>
      </p:sp>
      <p:sp>
        <p:nvSpPr>
          <p:cNvPr id="150" name="Google Shape;150;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TIEMPO: 7:30 - 8:30 | EXPOSITOR: Integrante 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GUION: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Gracias. La detección de este fraude fue una proeza de la propia ciencia de la computación. El profesor Guillaume Cabanac, junto a Cyril Labbé y Alexander Magazinov, programaron el 'Problematic Paper Screener', utilizando expresiones regulares y minería de texto para escanear repositorios científicos. Publicaron las evidencias en PubPeer y Retraction Watch. La presión fue tal que en abril de 2022 la ACM tuvo que retractar de golpe más de 320 artículos. Además, este escándalo validó los postulados de la lista de Jeffrey Beall sobre eventos predatorios: el modelo de cobrar por publicar penetró en la ACM. Y lo más grave: estos papers absurdos contaminan los datasets con los que hoy se entrenan las inteligencias artificiales.</a:t>
            </a:r>
            <a:endParaRPr/>
          </a:p>
        </p:txBody>
      </p:sp>
      <p:sp>
        <p:nvSpPr>
          <p:cNvPr id="161" name="Google Shape;161;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TIEMPO: 8:30 - 9:15 | EXPOSITOR: Integrante 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GUION: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En esta matriz comparativa apreciamos la evolución del fraude científico en dos décadas: Pasamos del fraude artesanal de Schön, donde un investigador brillante engañó a revistas prestigiosas mediante gráficos falsos en su oficina, al fraude industrializado de la ACM, donde redes transnacionales mercantilizaron la revisión por pares mediante algoritmos de parafraseo. En Schön falló la custodia de datos primarios exigida por On Being a Scientist; en la ACM fallaron la autoría legítima y la revisión por pares exigidas por Singapur. Y mientras a Schön lo delató la imposibilidad de reproducir sus experimentos, a la ACM la delató la propia computación mediante minería de texto.</a:t>
            </a:r>
            <a:endParaRPr/>
          </a:p>
        </p:txBody>
      </p:sp>
      <p:sp>
        <p:nvSpPr>
          <p:cNvPr id="172" name="Google Shape;172;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TIEMPO: 9:15 - 10:00 | EXPOSITOR: Integrante 4 (Cierre grupal)</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GUION: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Para cerrar, ambos casos nos dejan lecciones críticas para nuestro desarrollo en el magíster: Primero, en ciencias aplicadas, la reproducibilidad y los datos abiertos no son una opción, son un deber ético. Segundo, la autoría implica responsabilidad solidaria: ser coautor significa garantizar que los resultados son reales. Tercero, ante la masificación de la IA, debemos ser guardianes de la calidad epistemológica del software y los datos que generamos. La integridad científica es, en definitiva, el único activo real que valida nuestra labor como investigadores. Muchas gracias, quedamos atentos a las preguntas de la comisión.</a:t>
            </a:r>
            <a:endParaRPr/>
          </a:p>
        </p:txBody>
      </p:sp>
      <p:sp>
        <p:nvSpPr>
          <p:cNvPr id="180" name="Google Shape;180;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1" name="Google Shape;191;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12191695" cy="6858000"/>
          </a:xfrm>
          <a:prstGeom prst="rect">
            <a:avLst/>
          </a:prstGeom>
          <a:solidFill>
            <a:srgbClr val="1A365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 name="Google Shape;86;p1"/>
          <p:cNvSpPr txBox="1"/>
          <p:nvPr/>
        </p:nvSpPr>
        <p:spPr>
          <a:xfrm>
            <a:off x="1097280" y="1005840"/>
            <a:ext cx="10058400" cy="20116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D9488"/>
                </a:solidFill>
                <a:latin typeface="Calibri"/>
                <a:ea typeface="Calibri"/>
                <a:cs typeface="Calibri"/>
                <a:sym typeface="Calibri"/>
              </a:rPr>
              <a:t>MAGÍSTER EN INFORMÁTICA | METODOLOGÍAS DE INVESTIGACIÓN APLICADA</a:t>
            </a:r>
            <a:endParaRPr/>
          </a:p>
          <a:p>
            <a:pPr indent="0" lvl="0" marL="0" marR="0" rtl="0" algn="l">
              <a:spcBef>
                <a:spcPts val="1000"/>
              </a:spcBef>
              <a:spcAft>
                <a:spcPts val="0"/>
              </a:spcAft>
              <a:buNone/>
            </a:pPr>
            <a:r>
              <a:rPr b="1" i="0" lang="en-US" sz="3600" u="none" cap="none" strike="noStrike">
                <a:solidFill>
                  <a:srgbClr val="FFFFFF"/>
                </a:solidFill>
                <a:latin typeface="Calibri"/>
                <a:ea typeface="Calibri"/>
                <a:cs typeface="Calibri"/>
                <a:sym typeface="Calibri"/>
              </a:rPr>
              <a:t>Ética en la Publicación Científica</a:t>
            </a:r>
            <a:endParaRPr/>
          </a:p>
          <a:p>
            <a:pPr indent="0" lvl="0" marL="0" marR="0" rtl="0" algn="l">
              <a:spcBef>
                <a:spcPts val="600"/>
              </a:spcBef>
              <a:spcAft>
                <a:spcPts val="0"/>
              </a:spcAft>
              <a:buNone/>
            </a:pPr>
            <a:r>
              <a:rPr b="0" i="0" lang="en-US" sz="1800" u="none" cap="none" strike="noStrike">
                <a:solidFill>
                  <a:srgbClr val="E2E8F0"/>
                </a:solidFill>
                <a:latin typeface="Calibri"/>
                <a:ea typeface="Calibri"/>
                <a:cs typeface="Calibri"/>
                <a:sym typeface="Calibri"/>
              </a:rPr>
              <a:t>De la Manipulación Individual de Datos a la Industrialización del Fraude en Informática</a:t>
            </a:r>
            <a:endParaRPr/>
          </a:p>
        </p:txBody>
      </p:sp>
      <p:sp>
        <p:nvSpPr>
          <p:cNvPr id="87" name="Google Shape;87;p1"/>
          <p:cNvSpPr/>
          <p:nvPr/>
        </p:nvSpPr>
        <p:spPr>
          <a:xfrm>
            <a:off x="1097280" y="3383280"/>
            <a:ext cx="4754880" cy="1645920"/>
          </a:xfrm>
          <a:prstGeom prst="roundRect">
            <a:avLst>
              <a:gd fmla="val 16667" name="adj"/>
            </a:avLst>
          </a:prstGeom>
          <a:solidFill>
            <a:srgbClr val="1E406E"/>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0D9488"/>
                </a:solidFill>
                <a:latin typeface="Calibri"/>
                <a:ea typeface="Calibri"/>
                <a:cs typeface="Calibri"/>
                <a:sym typeface="Calibri"/>
              </a:rPr>
              <a:t>CASO HISTÓRICO LIBRE</a:t>
            </a:r>
            <a:endParaRPr/>
          </a:p>
          <a:p>
            <a:pPr indent="0" lvl="0" marL="0" marR="0" rtl="0" algn="l">
              <a:spcBef>
                <a:spcPts val="0"/>
              </a:spcBef>
              <a:spcAft>
                <a:spcPts val="0"/>
              </a:spcAft>
              <a:buNone/>
            </a:pPr>
            <a:r>
              <a:rPr b="0" i="0" lang="en-US" sz="1150" u="none" cap="none" strike="noStrike">
                <a:solidFill>
                  <a:srgbClr val="FFFFFF"/>
                </a:solidFill>
                <a:latin typeface="Calibri"/>
                <a:ea typeface="Calibri"/>
                <a:cs typeface="Calibri"/>
                <a:sym typeface="Calibri"/>
              </a:rPr>
              <a:t>Jan Hendrik Schön (Bell Labs)</a:t>
            </a:r>
            <a:br>
              <a:rPr b="0" i="0" lang="en-US" sz="1150" u="none" cap="none" strike="noStrike">
                <a:solidFill>
                  <a:srgbClr val="FFFFFF"/>
                </a:solidFill>
                <a:latin typeface="Calibri"/>
                <a:ea typeface="Calibri"/>
                <a:cs typeface="Calibri"/>
                <a:sym typeface="Calibri"/>
              </a:rPr>
            </a:br>
            <a:r>
              <a:rPr b="0" i="0" lang="en-US" sz="1150" u="none" cap="none" strike="noStrike">
                <a:solidFill>
                  <a:srgbClr val="FFFFFF"/>
                </a:solidFill>
                <a:latin typeface="Calibri"/>
                <a:ea typeface="Calibri"/>
                <a:cs typeface="Calibri"/>
                <a:sym typeface="Calibri"/>
              </a:rPr>
              <a:t>Fabricación y falsificación de curvas experimentales en física de materiales (Science / Nature).</a:t>
            </a:r>
            <a:endParaRPr/>
          </a:p>
        </p:txBody>
      </p:sp>
      <p:sp>
        <p:nvSpPr>
          <p:cNvPr id="88" name="Google Shape;88;p1"/>
          <p:cNvSpPr/>
          <p:nvPr/>
        </p:nvSpPr>
        <p:spPr>
          <a:xfrm>
            <a:off x="6309360" y="3383280"/>
            <a:ext cx="4754880" cy="1645920"/>
          </a:xfrm>
          <a:prstGeom prst="roundRect">
            <a:avLst>
              <a:gd fmla="val 16667" name="adj"/>
            </a:avLst>
          </a:prstGeom>
          <a:solidFill>
            <a:srgbClr val="1E406E"/>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0D9488"/>
                </a:solidFill>
                <a:latin typeface="Calibri"/>
                <a:ea typeface="Calibri"/>
                <a:cs typeface="Calibri"/>
                <a:sym typeface="Calibri"/>
              </a:rPr>
              <a:t>CASO INFORMÁTICA / CS</a:t>
            </a:r>
            <a:endParaRPr/>
          </a:p>
          <a:p>
            <a:pPr indent="0" lvl="0" marL="0" marR="0" rtl="0" algn="l">
              <a:spcBef>
                <a:spcPts val="0"/>
              </a:spcBef>
              <a:spcAft>
                <a:spcPts val="0"/>
              </a:spcAft>
              <a:buNone/>
            </a:pPr>
            <a:r>
              <a:rPr b="0" i="0" lang="en-US" sz="1150" u="none" cap="none" strike="noStrike">
                <a:solidFill>
                  <a:srgbClr val="FFFFFF"/>
                </a:solidFill>
                <a:latin typeface="Calibri"/>
                <a:ea typeface="Calibri"/>
                <a:cs typeface="Calibri"/>
                <a:sym typeface="Calibri"/>
              </a:rPr>
              <a:t>Escándalo de Retracciones Masivas ACM</a:t>
            </a:r>
            <a:br>
              <a:rPr b="0" i="0" lang="en-US" sz="1150" u="none" cap="none" strike="noStrike">
                <a:solidFill>
                  <a:srgbClr val="FFFFFF"/>
                </a:solidFill>
                <a:latin typeface="Calibri"/>
                <a:ea typeface="Calibri"/>
                <a:cs typeface="Calibri"/>
                <a:sym typeface="Calibri"/>
              </a:rPr>
            </a:br>
            <a:r>
              <a:rPr b="0" i="0" lang="en-US" sz="1150" u="none" cap="none" strike="noStrike">
                <a:solidFill>
                  <a:srgbClr val="FFFFFF"/>
                </a:solidFill>
                <a:latin typeface="Calibri"/>
                <a:ea typeface="Calibri"/>
                <a:cs typeface="Calibri"/>
                <a:sym typeface="Calibri"/>
              </a:rPr>
              <a:t>'Tortured phrases', venta de coautorías (paper mills) y secuestro del arbitraje en conferencias de IA.</a:t>
            </a:r>
            <a:endParaRPr/>
          </a:p>
        </p:txBody>
      </p:sp>
      <p:sp>
        <p:nvSpPr>
          <p:cNvPr id="89" name="Google Shape;89;p1"/>
          <p:cNvSpPr txBox="1"/>
          <p:nvPr/>
        </p:nvSpPr>
        <p:spPr>
          <a:xfrm>
            <a:off x="1097280" y="5303520"/>
            <a:ext cx="100584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FFFFFF"/>
                </a:solidFill>
                <a:latin typeface="Calibri"/>
                <a:ea typeface="Calibri"/>
                <a:cs typeface="Calibri"/>
                <a:sym typeface="Calibri"/>
              </a:rPr>
              <a:t>INTEGRANTES: Gonzalo Ahumada  •  Diego Fernández  •  Iván Fernández  •  Pablo Figueroa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p:nvPr/>
        </p:nvSpPr>
        <p:spPr>
          <a:xfrm>
            <a:off x="731520" y="411480"/>
            <a:ext cx="4114800" cy="320040"/>
          </a:xfrm>
          <a:prstGeom prst="roundRect">
            <a:avLst>
              <a:gd fmla="val 16667" name="adj"/>
            </a:avLst>
          </a:prstGeom>
          <a:solidFill>
            <a:srgbClr val="2B6CB0"/>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MARCO NORMATIVO Y CONCEPTUAL</a:t>
            </a:r>
            <a:endParaRPr/>
          </a:p>
        </p:txBody>
      </p:sp>
      <p:sp>
        <p:nvSpPr>
          <p:cNvPr id="96" name="Google Shape;96;p2"/>
          <p:cNvSpPr txBox="1"/>
          <p:nvPr/>
        </p:nvSpPr>
        <p:spPr>
          <a:xfrm>
            <a:off x="731520" y="777240"/>
            <a:ext cx="106984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365D"/>
                </a:solidFill>
                <a:latin typeface="Calibri"/>
                <a:ea typeface="Calibri"/>
                <a:cs typeface="Calibri"/>
                <a:sym typeface="Calibri"/>
              </a:rPr>
              <a:t>La Publicación Científica como Producto de la Investigación</a:t>
            </a:r>
            <a:endParaRPr/>
          </a:p>
        </p:txBody>
      </p:sp>
      <p:sp>
        <p:nvSpPr>
          <p:cNvPr id="97" name="Google Shape;97;p2"/>
          <p:cNvSpPr/>
          <p:nvPr/>
        </p:nvSpPr>
        <p:spPr>
          <a:xfrm>
            <a:off x="731520" y="1645920"/>
            <a:ext cx="3291840" cy="4572000"/>
          </a:xfrm>
          <a:prstGeom prst="roundRect">
            <a:avLst>
              <a:gd fmla="val 16667" name="adj"/>
            </a:avLst>
          </a:prstGeom>
          <a:solidFill>
            <a:srgbClr val="F8FAFC"/>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2"/>
          <p:cNvSpPr txBox="1"/>
          <p:nvPr/>
        </p:nvSpPr>
        <p:spPr>
          <a:xfrm>
            <a:off x="960120" y="1828800"/>
            <a:ext cx="2834640" cy="23031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La Tríada FFP</a:t>
            </a:r>
            <a:br>
              <a:rPr b="1" i="0" lang="en-US" sz="1400" u="none" cap="none" strike="noStrike">
                <a:solidFill>
                  <a:srgbClr val="1A365D"/>
                </a:solidFill>
                <a:latin typeface="Calibri"/>
                <a:ea typeface="Calibri"/>
                <a:cs typeface="Calibri"/>
                <a:sym typeface="Calibri"/>
              </a:rPr>
            </a:br>
            <a:r>
              <a:rPr b="1" i="0" lang="en-US" sz="1400" u="none" cap="none" strike="noStrike">
                <a:solidFill>
                  <a:srgbClr val="1A365D"/>
                </a:solidFill>
                <a:latin typeface="Calibri"/>
                <a:ea typeface="Calibri"/>
                <a:cs typeface="Calibri"/>
                <a:sym typeface="Calibri"/>
              </a:rPr>
              <a:t>(On Being a Scientist)</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Fabricación: </a:t>
            </a:r>
            <a:r>
              <a:rPr b="0" i="0" lang="en-US" sz="1100" u="none" cap="none" strike="noStrike">
                <a:solidFill>
                  <a:srgbClr val="1F2937"/>
                </a:solidFill>
                <a:latin typeface="Calibri"/>
                <a:ea typeface="Calibri"/>
                <a:cs typeface="Calibri"/>
                <a:sym typeface="Calibri"/>
              </a:rPr>
              <a:t>Invención de datos o resultados inexistentes.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Falsificación: </a:t>
            </a:r>
            <a:r>
              <a:rPr b="0" i="0" lang="en-US" sz="1100" u="none" cap="none" strike="noStrike">
                <a:solidFill>
                  <a:srgbClr val="1F2937"/>
                </a:solidFill>
                <a:latin typeface="Calibri"/>
                <a:ea typeface="Calibri"/>
                <a:cs typeface="Calibri"/>
                <a:sym typeface="Calibri"/>
              </a:rPr>
              <a:t>Manipulación de procesos o eliminación de datos reales.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Plagio: </a:t>
            </a:r>
            <a:r>
              <a:rPr b="0" i="0" lang="en-US" sz="1100" u="none" cap="none" strike="noStrike">
                <a:solidFill>
                  <a:srgbClr val="1F2937"/>
                </a:solidFill>
                <a:latin typeface="Calibri"/>
                <a:ea typeface="Calibri"/>
                <a:cs typeface="Calibri"/>
                <a:sym typeface="Calibri"/>
              </a:rPr>
              <a:t>Apropiación de ideas, texto o código sin atribución.</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Delimitación Clave: </a:t>
            </a:r>
            <a:r>
              <a:rPr b="0" i="0" lang="en-US" sz="1100" u="none" cap="none" strike="noStrike">
                <a:solidFill>
                  <a:srgbClr val="1F2937"/>
                </a:solidFill>
                <a:latin typeface="Calibri"/>
                <a:ea typeface="Calibri"/>
                <a:cs typeface="Calibri"/>
                <a:sym typeface="Calibri"/>
              </a:rPr>
              <a:t>El foco es la publicación como producto; se excluye daño a seres vivos/humanos.</a:t>
            </a:r>
            <a:endParaRPr b="0" i="0" sz="1100" u="none" cap="none" strike="noStrike">
              <a:solidFill>
                <a:srgbClr val="1F2937"/>
              </a:solidFill>
              <a:latin typeface="Calibri"/>
              <a:ea typeface="Calibri"/>
              <a:cs typeface="Calibri"/>
              <a:sym typeface="Calibri"/>
            </a:endParaRPr>
          </a:p>
        </p:txBody>
      </p:sp>
      <p:sp>
        <p:nvSpPr>
          <p:cNvPr id="99" name="Google Shape;99;p2"/>
          <p:cNvSpPr/>
          <p:nvPr/>
        </p:nvSpPr>
        <p:spPr>
          <a:xfrm>
            <a:off x="4389120" y="1645920"/>
            <a:ext cx="3291840" cy="4572000"/>
          </a:xfrm>
          <a:prstGeom prst="roundRect">
            <a:avLst>
              <a:gd fmla="val 16667" name="adj"/>
            </a:avLst>
          </a:prstGeom>
          <a:solidFill>
            <a:srgbClr val="F8FAFC"/>
          </a:solidFill>
          <a:ln cap="flat" cmpd="sng" w="19050">
            <a:solidFill>
              <a:srgbClr val="0D948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0" name="Google Shape;100;p2"/>
          <p:cNvSpPr txBox="1"/>
          <p:nvPr/>
        </p:nvSpPr>
        <p:spPr>
          <a:xfrm>
            <a:off x="4617720" y="1828800"/>
            <a:ext cx="283464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Declaración de Singapur</a:t>
            </a:r>
            <a:br>
              <a:rPr b="1" i="0" lang="en-US" sz="1400" u="none" cap="none" strike="noStrike">
                <a:solidFill>
                  <a:srgbClr val="1A365D"/>
                </a:solidFill>
                <a:latin typeface="Calibri"/>
                <a:ea typeface="Calibri"/>
                <a:cs typeface="Calibri"/>
                <a:sym typeface="Calibri"/>
              </a:rPr>
            </a:br>
            <a:r>
              <a:rPr b="1" i="0" lang="en-US" sz="1400" u="none" cap="none" strike="noStrike">
                <a:solidFill>
                  <a:srgbClr val="1A365D"/>
                </a:solidFill>
                <a:latin typeface="Calibri"/>
                <a:ea typeface="Calibri"/>
                <a:cs typeface="Calibri"/>
                <a:sym typeface="Calibri"/>
              </a:rPr>
              <a:t>(Principios y Deberes)</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Honestidad y Rigor: </a:t>
            </a:r>
            <a:r>
              <a:rPr b="0" i="0" lang="en-US" sz="1100" u="none" cap="none" strike="noStrike">
                <a:solidFill>
                  <a:srgbClr val="1F2937"/>
                </a:solidFill>
                <a:latin typeface="Calibri"/>
                <a:ea typeface="Calibri"/>
                <a:cs typeface="Calibri"/>
                <a:sym typeface="Calibri"/>
              </a:rPr>
              <a:t>Obligación de honradez en todas las fases de la investigación.</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Resp. 4 (Datos): </a:t>
            </a:r>
            <a:r>
              <a:rPr b="0" i="0" lang="en-US" sz="1100" u="none" cap="none" strike="noStrike">
                <a:solidFill>
                  <a:srgbClr val="1F2937"/>
                </a:solidFill>
                <a:latin typeface="Calibri"/>
                <a:ea typeface="Calibri"/>
                <a:cs typeface="Calibri"/>
                <a:sym typeface="Calibri"/>
              </a:rPr>
              <a:t>Preservación estricta y transparente de registros primarios para reproducibilidad.</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Resp. 6 (Autoría): </a:t>
            </a:r>
            <a:r>
              <a:rPr b="0" i="0" lang="en-US" sz="1100" u="none" cap="none" strike="noStrike">
                <a:solidFill>
                  <a:srgbClr val="1F2937"/>
                </a:solidFill>
                <a:latin typeface="Calibri"/>
                <a:ea typeface="Calibri"/>
                <a:cs typeface="Calibri"/>
                <a:sym typeface="Calibri"/>
              </a:rPr>
              <a:t>Asumir responsabilidad plena de lo publicado; prohibición de autorías honorarias o comerciales.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Resp. 8 (Peer Review): </a:t>
            </a:r>
            <a:r>
              <a:rPr b="0" i="0" lang="en-US" sz="1100" u="none" cap="none" strike="noStrike">
                <a:solidFill>
                  <a:srgbClr val="1F2937"/>
                </a:solidFill>
                <a:latin typeface="Calibri"/>
                <a:ea typeface="Calibri"/>
                <a:cs typeface="Calibri"/>
                <a:sym typeface="Calibri"/>
              </a:rPr>
              <a:t>Arbitraje imparcial, confidencial y riguroso.</a:t>
            </a:r>
            <a:endParaRPr/>
          </a:p>
        </p:txBody>
      </p:sp>
      <p:sp>
        <p:nvSpPr>
          <p:cNvPr id="101" name="Google Shape;101;p2"/>
          <p:cNvSpPr/>
          <p:nvPr/>
        </p:nvSpPr>
        <p:spPr>
          <a:xfrm>
            <a:off x="8046720" y="1645920"/>
            <a:ext cx="3383280" cy="4572000"/>
          </a:xfrm>
          <a:prstGeom prst="roundRect">
            <a:avLst>
              <a:gd fmla="val 16667" name="adj"/>
            </a:avLst>
          </a:prstGeom>
          <a:solidFill>
            <a:srgbClr val="F8FAFC"/>
          </a:solidFill>
          <a:ln cap="flat" cmpd="sng" w="1905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2"/>
          <p:cNvSpPr txBox="1"/>
          <p:nvPr/>
        </p:nvSpPr>
        <p:spPr>
          <a:xfrm>
            <a:off x="8275320" y="1828800"/>
            <a:ext cx="292608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Presiones Sistémicas</a:t>
            </a:r>
            <a:br>
              <a:rPr b="1" i="0" lang="en-US" sz="1400" u="none" cap="none" strike="noStrike">
                <a:solidFill>
                  <a:srgbClr val="1A365D"/>
                </a:solidFill>
                <a:latin typeface="Calibri"/>
                <a:ea typeface="Calibri"/>
                <a:cs typeface="Calibri"/>
                <a:sym typeface="Calibri"/>
              </a:rPr>
            </a:br>
            <a:r>
              <a:rPr b="1" i="0" lang="en-US" sz="1400" u="none" cap="none" strike="noStrike">
                <a:solidFill>
                  <a:srgbClr val="1A365D"/>
                </a:solidFill>
                <a:latin typeface="Calibri"/>
                <a:ea typeface="Calibri"/>
                <a:cs typeface="Calibri"/>
                <a:sym typeface="Calibri"/>
              </a:rPr>
              <a:t>y Nuevos Fraudes</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Cultura Publish or Perish: </a:t>
            </a:r>
            <a:r>
              <a:rPr b="0" i="0" lang="en-US" sz="1100" u="none" cap="none" strike="noStrike">
                <a:solidFill>
                  <a:srgbClr val="1F2937"/>
                </a:solidFill>
                <a:latin typeface="Calibri"/>
                <a:ea typeface="Calibri"/>
                <a:cs typeface="Calibri"/>
                <a:sym typeface="Calibri"/>
              </a:rPr>
              <a:t>La obsesión métrica por volumen genera incentivos perversos.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Fraude Artesanal: </a:t>
            </a:r>
            <a:r>
              <a:rPr b="0" i="0" lang="en-US" sz="1100" u="none" cap="none" strike="noStrike">
                <a:solidFill>
                  <a:srgbClr val="1F2937"/>
                </a:solidFill>
                <a:latin typeface="Calibri"/>
                <a:ea typeface="Calibri"/>
                <a:cs typeface="Calibri"/>
                <a:sym typeface="Calibri"/>
              </a:rPr>
              <a:t>El científico que falsifica datos en soledad para inflar su prestigio.</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Fraude Industrializado: </a:t>
            </a:r>
            <a:r>
              <a:rPr b="0" i="0" lang="en-US" sz="1100" u="none" cap="none" strike="noStrike">
                <a:solidFill>
                  <a:srgbClr val="1F2937"/>
                </a:solidFill>
                <a:latin typeface="Calibri"/>
                <a:ea typeface="Calibri"/>
                <a:cs typeface="Calibri"/>
                <a:sym typeface="Calibri"/>
              </a:rPr>
              <a:t>Redes organizadas (paper mills) que monetizan la producción masiva de papers sintéticos.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Vigilancia Comunitaria: </a:t>
            </a:r>
            <a:r>
              <a:rPr b="0" i="0" lang="en-US" sz="1100" u="none" cap="none" strike="noStrike">
                <a:solidFill>
                  <a:srgbClr val="1F2937"/>
                </a:solidFill>
                <a:latin typeface="Calibri"/>
                <a:ea typeface="Calibri"/>
                <a:cs typeface="Calibri"/>
                <a:sym typeface="Calibri"/>
              </a:rPr>
              <a:t>Plataformas post-publicación: Retraction Watch y PubPeer.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p:nvPr/>
        </p:nvSpPr>
        <p:spPr>
          <a:xfrm>
            <a:off x="731520" y="411480"/>
            <a:ext cx="4114800" cy="320040"/>
          </a:xfrm>
          <a:prstGeom prst="roundRect">
            <a:avLst>
              <a:gd fmla="val 16667" name="adj"/>
            </a:avLst>
          </a:prstGeom>
          <a:solidFill>
            <a:srgbClr val="2B6CB0"/>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CASO HISTÓRICO LIBRE | FÍSICA</a:t>
            </a:r>
            <a:endParaRPr/>
          </a:p>
        </p:txBody>
      </p:sp>
      <p:sp>
        <p:nvSpPr>
          <p:cNvPr id="109" name="Google Shape;109;p3"/>
          <p:cNvSpPr txBox="1"/>
          <p:nvPr/>
        </p:nvSpPr>
        <p:spPr>
          <a:xfrm>
            <a:off x="731520" y="777240"/>
            <a:ext cx="106984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365D"/>
                </a:solidFill>
                <a:latin typeface="Calibri"/>
                <a:ea typeface="Calibri"/>
                <a:cs typeface="Calibri"/>
                <a:sym typeface="Calibri"/>
              </a:rPr>
              <a:t>Jan Hendrik Schön: El 'Prodigio' de Bell Laboratories</a:t>
            </a:r>
            <a:endParaRPr/>
          </a:p>
        </p:txBody>
      </p:sp>
      <p:sp>
        <p:nvSpPr>
          <p:cNvPr id="110" name="Google Shape;110;p3"/>
          <p:cNvSpPr/>
          <p:nvPr/>
        </p:nvSpPr>
        <p:spPr>
          <a:xfrm>
            <a:off x="731520" y="1645920"/>
            <a:ext cx="5120640" cy="4572000"/>
          </a:xfrm>
          <a:prstGeom prst="roundRect">
            <a:avLst>
              <a:gd fmla="val 16667" name="adj"/>
            </a:avLst>
          </a:prstGeom>
          <a:solidFill>
            <a:srgbClr val="F8FAFC"/>
          </a:solidFill>
          <a:ln cap="flat" cmpd="sng" w="1905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 name="Google Shape;111;p3"/>
          <p:cNvSpPr txBox="1"/>
          <p:nvPr/>
        </p:nvSpPr>
        <p:spPr>
          <a:xfrm>
            <a:off x="960120" y="1828800"/>
            <a:ext cx="466344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Contexto Institucional y Promesas</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Institución: </a:t>
            </a:r>
            <a:r>
              <a:rPr b="0" i="0" lang="en-US" sz="1100" u="none" cap="none" strike="noStrike">
                <a:solidFill>
                  <a:srgbClr val="1F2937"/>
                </a:solidFill>
                <a:latin typeface="Calibri"/>
                <a:ea typeface="Calibri"/>
                <a:cs typeface="Calibri"/>
                <a:sym typeface="Calibri"/>
              </a:rPr>
              <a:t>Bell Laboratories (Lucent Technologies, EE. UU.) y Univ. de Konstanz (Alemania).</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Disciplina: </a:t>
            </a:r>
            <a:r>
              <a:rPr b="0" i="0" lang="en-US" sz="1100" u="none" cap="none" strike="noStrike">
                <a:solidFill>
                  <a:srgbClr val="1F2937"/>
                </a:solidFill>
                <a:latin typeface="Calibri"/>
                <a:ea typeface="Calibri"/>
                <a:cs typeface="Calibri"/>
                <a:sym typeface="Calibri"/>
              </a:rPr>
              <a:t>Física de la materia condensada, nanotecnología y superconductividad.</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El 'Prodigio': </a:t>
            </a:r>
            <a:r>
              <a:rPr b="0" i="0" lang="en-US" sz="1100" u="none" cap="none" strike="noStrike">
                <a:solidFill>
                  <a:srgbClr val="1F2937"/>
                </a:solidFill>
                <a:latin typeface="Calibri"/>
                <a:ea typeface="Calibri"/>
                <a:cs typeface="Calibri"/>
                <a:sym typeface="Calibri"/>
              </a:rPr>
              <a:t>Entre 1998 y 2001 llegó a publicar un artículo de alto impacto cada ocho días.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Hitos Reclamados: </a:t>
            </a:r>
            <a:r>
              <a:rPr b="0" i="0" lang="en-US" sz="1100" u="none" cap="none" strike="noStrike">
                <a:solidFill>
                  <a:srgbClr val="1F2937"/>
                </a:solidFill>
                <a:latin typeface="Calibri"/>
                <a:ea typeface="Calibri"/>
                <a:cs typeface="Calibri"/>
                <a:sym typeface="Calibri"/>
              </a:rPr>
              <a:t>Transistores monomoleculares y superconductividad en fulerenos a alta temperatura.</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Prestigio Editorial: </a:t>
            </a:r>
            <a:r>
              <a:rPr b="0" i="0" lang="en-US" sz="1100" u="none" cap="none" strike="noStrike">
                <a:solidFill>
                  <a:srgbClr val="1F2937"/>
                </a:solidFill>
                <a:latin typeface="Calibri"/>
                <a:ea typeface="Calibri"/>
                <a:cs typeface="Calibri"/>
                <a:sym typeface="Calibri"/>
              </a:rPr>
              <a:t>Publicaciones estelares continuas en Science, Nature y Applied Physics Letters.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Ambición: </a:t>
            </a:r>
            <a:r>
              <a:rPr b="0" i="0" lang="en-US" sz="1100" u="none" cap="none" strike="noStrike">
                <a:solidFill>
                  <a:srgbClr val="1F2937"/>
                </a:solidFill>
                <a:latin typeface="Calibri"/>
                <a:ea typeface="Calibri"/>
                <a:cs typeface="Calibri"/>
                <a:sym typeface="Calibri"/>
              </a:rPr>
              <a:t>Considerado inminente candidato al Premio Nobel de Física con apenas 31 años.</a:t>
            </a:r>
            <a:endParaRPr/>
          </a:p>
        </p:txBody>
      </p:sp>
      <p:sp>
        <p:nvSpPr>
          <p:cNvPr id="112" name="Google Shape;112;p3"/>
          <p:cNvSpPr/>
          <p:nvPr/>
        </p:nvSpPr>
        <p:spPr>
          <a:xfrm>
            <a:off x="6217920" y="1645920"/>
            <a:ext cx="5212080" cy="4572000"/>
          </a:xfrm>
          <a:prstGeom prst="roundRect">
            <a:avLst>
              <a:gd fmla="val 16667" name="adj"/>
            </a:avLst>
          </a:prstGeom>
          <a:solidFill>
            <a:srgbClr val="F8FAFC"/>
          </a:solidFill>
          <a:ln cap="flat" cmpd="sng" w="1905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3" name="Google Shape;113;p3"/>
          <p:cNvSpPr txBox="1"/>
          <p:nvPr/>
        </p:nvSpPr>
        <p:spPr>
          <a:xfrm>
            <a:off x="6446520" y="1828800"/>
            <a:ext cx="475488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La Red de Confianza Ciega</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Bertram Batlogg: </a:t>
            </a:r>
            <a:r>
              <a:rPr b="0" i="0" lang="en-US" sz="1100" u="none" cap="none" strike="noStrike">
                <a:solidFill>
                  <a:srgbClr val="1F2937"/>
                </a:solidFill>
                <a:latin typeface="Calibri"/>
                <a:ea typeface="Calibri"/>
                <a:cs typeface="Calibri"/>
                <a:sym typeface="Calibri"/>
              </a:rPr>
              <a:t>Físico mundialmente célebre y jefe de área en Bell Labs; respaldó como coautor sénior los papers.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20 Coautores Exonerados: </a:t>
            </a:r>
            <a:r>
              <a:rPr b="0" i="0" lang="en-US" sz="1100" u="none" cap="none" strike="noStrike">
                <a:solidFill>
                  <a:srgbClr val="1F2937"/>
                </a:solidFill>
                <a:latin typeface="Calibri"/>
                <a:ea typeface="Calibri"/>
                <a:cs typeface="Calibri"/>
                <a:sym typeface="Calibri"/>
              </a:rPr>
              <a:t>Investigadores secundarios preparaban los cristales o apoyaban montajes, pero jamás presenciaban las mediciones de Schön.</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El 'Efecto Halo': </a:t>
            </a:r>
            <a:r>
              <a:rPr b="0" i="0" lang="en-US" sz="1100" u="none" cap="none" strike="noStrike">
                <a:solidFill>
                  <a:srgbClr val="1F2937"/>
                </a:solidFill>
                <a:latin typeface="Calibri"/>
                <a:ea typeface="Calibri"/>
                <a:cs typeface="Calibri"/>
                <a:sym typeface="Calibri"/>
              </a:rPr>
              <a:t>La legendaria reputación de Bell Labs (cuna del transistor) inhibió el escepticismo inicial de revisores.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Alerta Silenciada: </a:t>
            </a:r>
            <a:r>
              <a:rPr b="0" i="0" lang="en-US" sz="1100" u="none" cap="none" strike="noStrike">
                <a:solidFill>
                  <a:srgbClr val="1F2937"/>
                </a:solidFill>
                <a:latin typeface="Calibri"/>
                <a:ea typeface="Calibri"/>
                <a:cs typeface="Calibri"/>
                <a:sym typeface="Calibri"/>
              </a:rPr>
              <a:t>Cualquier cuestionamiento interno se diluía ante la euforia corporativa de patentar el futuro de la nanoelectrónica.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p:nvPr/>
        </p:nvSpPr>
        <p:spPr>
          <a:xfrm>
            <a:off x="731520" y="411480"/>
            <a:ext cx="4114800" cy="320040"/>
          </a:xfrm>
          <a:prstGeom prst="roundRect">
            <a:avLst>
              <a:gd fmla="val 16667" name="adj"/>
            </a:avLst>
          </a:prstGeom>
          <a:solidFill>
            <a:srgbClr val="2B6CB0"/>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CASO HISTÓRICO LIBRE | TRANSGRESIONES</a:t>
            </a:r>
            <a:endParaRPr/>
          </a:p>
        </p:txBody>
      </p:sp>
      <p:sp>
        <p:nvSpPr>
          <p:cNvPr id="120" name="Google Shape;120;p4"/>
          <p:cNvSpPr txBox="1"/>
          <p:nvPr/>
        </p:nvSpPr>
        <p:spPr>
          <a:xfrm>
            <a:off x="731520" y="777240"/>
            <a:ext cx="106984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365D"/>
                </a:solidFill>
                <a:latin typeface="Calibri"/>
                <a:ea typeface="Calibri"/>
                <a:cs typeface="Calibri"/>
                <a:sym typeface="Calibri"/>
              </a:rPr>
              <a:t>Vulneración Ética: Fabricación, Falsificación y Negligencia</a:t>
            </a:r>
            <a:endParaRPr/>
          </a:p>
        </p:txBody>
      </p:sp>
      <p:sp>
        <p:nvSpPr>
          <p:cNvPr id="121" name="Google Shape;121;p4"/>
          <p:cNvSpPr/>
          <p:nvPr/>
        </p:nvSpPr>
        <p:spPr>
          <a:xfrm>
            <a:off x="731520" y="1645920"/>
            <a:ext cx="5120640" cy="4572000"/>
          </a:xfrm>
          <a:prstGeom prst="roundRect">
            <a:avLst>
              <a:gd fmla="val 16667" name="adj"/>
            </a:avLst>
          </a:prstGeom>
          <a:solidFill>
            <a:srgbClr val="F8FAFC"/>
          </a:solidFill>
          <a:ln cap="flat" cmpd="sng" w="19050">
            <a:solidFill>
              <a:srgbClr val="991B1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2" name="Google Shape;122;p4"/>
          <p:cNvSpPr txBox="1"/>
          <p:nvPr/>
        </p:nvSpPr>
        <p:spPr>
          <a:xfrm>
            <a:off x="960120" y="1828800"/>
            <a:ext cx="466344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Vulneraciones en 'On Being a Scientist'</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Fabricación de Curvas (p. 35): </a:t>
            </a:r>
            <a:r>
              <a:rPr b="0" i="0" lang="en-US" sz="1100" u="none" cap="none" strike="noStrike">
                <a:solidFill>
                  <a:srgbClr val="1F2937"/>
                </a:solidFill>
                <a:latin typeface="Calibri"/>
                <a:ea typeface="Calibri"/>
                <a:cs typeface="Calibri"/>
                <a:sym typeface="Calibri"/>
              </a:rPr>
              <a:t>Schön no medía dispositivos reales: graficaba fórmulas matemáticas ideales y les insertaba ruido artificial.</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Destrucción Culpable de Datos: </a:t>
            </a:r>
            <a:r>
              <a:rPr b="0" i="0" lang="en-US" sz="1100" u="none" cap="none" strike="noStrike">
                <a:solidFill>
                  <a:srgbClr val="1F2937"/>
                </a:solidFill>
                <a:latin typeface="Calibri"/>
                <a:ea typeface="Calibri"/>
                <a:cs typeface="Calibri"/>
                <a:sym typeface="Calibri"/>
              </a:rPr>
              <a:t>Al ser auditado, declaró haber 'borrado todos los archivos crudos por falta de espacio en su disco' y no llevar bitácoras.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Muestras Descartadas: </a:t>
            </a:r>
            <a:r>
              <a:rPr b="0" i="0" lang="en-US" sz="1100" u="none" cap="none" strike="noStrike">
                <a:solidFill>
                  <a:srgbClr val="1F2937"/>
                </a:solidFill>
                <a:latin typeface="Calibri"/>
                <a:ea typeface="Calibri"/>
                <a:cs typeface="Calibri"/>
                <a:sym typeface="Calibri"/>
              </a:rPr>
              <a:t>Alegó que todos los microchips revolucionarios 'se habían dañado y los tiró a la basura'.</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Quiebre de Authorship: </a:t>
            </a:r>
            <a:r>
              <a:rPr b="0" i="0" lang="en-US" sz="1100" u="none" cap="none" strike="noStrike">
                <a:solidFill>
                  <a:srgbClr val="1F2937"/>
                </a:solidFill>
                <a:latin typeface="Calibri"/>
                <a:ea typeface="Calibri"/>
                <a:cs typeface="Calibri"/>
                <a:sym typeface="Calibri"/>
              </a:rPr>
              <a:t>Los coautores sénior cosecharon mérito sin ejercer el deber elemental de validar la verosimilitud de los datos brutos.</a:t>
            </a:r>
            <a:endParaRPr/>
          </a:p>
        </p:txBody>
      </p:sp>
      <p:sp>
        <p:nvSpPr>
          <p:cNvPr id="123" name="Google Shape;123;p4"/>
          <p:cNvSpPr/>
          <p:nvPr/>
        </p:nvSpPr>
        <p:spPr>
          <a:xfrm>
            <a:off x="6217920" y="1645920"/>
            <a:ext cx="5212080" cy="4572000"/>
          </a:xfrm>
          <a:prstGeom prst="roundRect">
            <a:avLst>
              <a:gd fmla="val 16667" name="adj"/>
            </a:avLst>
          </a:prstGeom>
          <a:solidFill>
            <a:srgbClr val="F8FAFC"/>
          </a:solidFill>
          <a:ln cap="flat" cmpd="sng" w="1905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4" name="Google Shape;124;p4"/>
          <p:cNvSpPr txBox="1"/>
          <p:nvPr/>
        </p:nvSpPr>
        <p:spPr>
          <a:xfrm>
            <a:off x="6446520" y="1828800"/>
            <a:ext cx="475488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Contravención a la Declaración de Singapur</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Principio de Honestidad: </a:t>
            </a:r>
            <a:r>
              <a:rPr b="0" i="0" lang="en-US" sz="1100" u="none" cap="none" strike="noStrike">
                <a:solidFill>
                  <a:srgbClr val="1F2937"/>
                </a:solidFill>
                <a:latin typeface="Calibri"/>
                <a:ea typeface="Calibri"/>
                <a:cs typeface="Calibri"/>
                <a:sym typeface="Calibri"/>
              </a:rPr>
              <a:t>Adulteración consciente para beneficio personal y ventaja profesional.</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Responsabilidad N° 3 (Métodos): </a:t>
            </a:r>
            <a:r>
              <a:rPr b="0" i="0" lang="en-US" sz="1100" u="none" cap="none" strike="noStrike">
                <a:solidFill>
                  <a:srgbClr val="1F2937"/>
                </a:solidFill>
                <a:latin typeface="Calibri"/>
                <a:ea typeface="Calibri"/>
                <a:cs typeface="Calibri"/>
                <a:sym typeface="Calibri"/>
              </a:rPr>
              <a:t>Conclusiones cimentadas en invenciones numéricas y no en evidencia empírica.</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Responsabilidad N° 4 (Documentación): </a:t>
            </a:r>
            <a:r>
              <a:rPr b="0" i="0" lang="en-US" sz="1100" u="none" cap="none" strike="noStrike">
                <a:solidFill>
                  <a:srgbClr val="1F2937"/>
                </a:solidFill>
                <a:latin typeface="Calibri"/>
                <a:ea typeface="Calibri"/>
                <a:cs typeface="Calibri"/>
                <a:sym typeface="Calibri"/>
              </a:rPr>
              <a:t>Violación total del mandato de mantener registros claros para la verificación y reproducibilidad.</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Responsabilidad N° 6 (Autoría): </a:t>
            </a:r>
            <a:r>
              <a:rPr b="0" i="0" lang="en-US" sz="1100" u="none" cap="none" strike="noStrike">
                <a:solidFill>
                  <a:srgbClr val="1F2937"/>
                </a:solidFill>
                <a:latin typeface="Calibri"/>
                <a:ea typeface="Calibri"/>
                <a:cs typeface="Calibri"/>
                <a:sym typeface="Calibri"/>
              </a:rPr>
              <a:t>Falta de supervisión y corresponsabilidad ética de los coautores firmantes.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p:nvPr/>
        </p:nvSpPr>
        <p:spPr>
          <a:xfrm>
            <a:off x="731520" y="411480"/>
            <a:ext cx="4114800" cy="320040"/>
          </a:xfrm>
          <a:prstGeom prst="roundRect">
            <a:avLst>
              <a:gd fmla="val 16667" name="adj"/>
            </a:avLst>
          </a:prstGeom>
          <a:solidFill>
            <a:srgbClr val="2B6CB0"/>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CASO HISTÓRICO LIBRE | DESENLACE</a:t>
            </a:r>
            <a:endParaRPr/>
          </a:p>
        </p:txBody>
      </p:sp>
      <p:sp>
        <p:nvSpPr>
          <p:cNvPr id="131" name="Google Shape;131;p5"/>
          <p:cNvSpPr txBox="1"/>
          <p:nvPr/>
        </p:nvSpPr>
        <p:spPr>
          <a:xfrm>
            <a:off x="731520" y="777240"/>
            <a:ext cx="106984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365D"/>
                </a:solidFill>
                <a:latin typeface="Calibri"/>
                <a:ea typeface="Calibri"/>
                <a:cs typeface="Calibri"/>
                <a:sym typeface="Calibri"/>
              </a:rPr>
              <a:t>El Hallazgo del Ruido Idéntico y las Consecuencias</a:t>
            </a:r>
            <a:endParaRPr/>
          </a:p>
        </p:txBody>
      </p:sp>
      <p:sp>
        <p:nvSpPr>
          <p:cNvPr id="132" name="Google Shape;132;p5"/>
          <p:cNvSpPr/>
          <p:nvPr/>
        </p:nvSpPr>
        <p:spPr>
          <a:xfrm>
            <a:off x="731520" y="1645920"/>
            <a:ext cx="5120640" cy="4572000"/>
          </a:xfrm>
          <a:prstGeom prst="roundRect">
            <a:avLst>
              <a:gd fmla="val 16667" name="adj"/>
            </a:avLst>
          </a:prstGeom>
          <a:solidFill>
            <a:srgbClr val="F8FAFC"/>
          </a:solidFill>
          <a:ln cap="flat" cmpd="sng" w="19050">
            <a:solidFill>
              <a:srgbClr val="0D948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p5"/>
          <p:cNvSpPr txBox="1"/>
          <p:nvPr/>
        </p:nvSpPr>
        <p:spPr>
          <a:xfrm>
            <a:off x="960120" y="1828800"/>
            <a:ext cx="466344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La Revelación: El Ruido Gemelo</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Crisis de Replicación: </a:t>
            </a:r>
            <a:r>
              <a:rPr b="0" i="0" lang="en-US" sz="1100" u="none" cap="none" strike="noStrike">
                <a:solidFill>
                  <a:srgbClr val="1F2937"/>
                </a:solidFill>
                <a:latin typeface="Calibri"/>
                <a:ea typeface="Calibri"/>
                <a:cs typeface="Calibri"/>
                <a:sym typeface="Calibri"/>
              </a:rPr>
              <a:t>Laboratorios de élite en Cornell, Harvard, Princeton y Delft gastaron millones de dólares y 2 años sin poder replicar nada.</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El Hallazgo (2002): </a:t>
            </a:r>
            <a:r>
              <a:rPr b="0" i="0" lang="en-US" sz="1100" u="none" cap="none" strike="noStrike">
                <a:solidFill>
                  <a:srgbClr val="1F2937"/>
                </a:solidFill>
                <a:latin typeface="Calibri"/>
                <a:ea typeface="Calibri"/>
                <a:cs typeface="Calibri"/>
                <a:sym typeface="Calibri"/>
              </a:rPr>
              <a:t>Lydia Sohn (Princeton) y Paul McEuen (Cornell) cotejaron dos papers distintos de Schön (en Nature y Science).</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La Prueba Irrefutable: </a:t>
            </a:r>
            <a:r>
              <a:rPr b="0" i="0" lang="en-US" sz="1100" u="none" cap="none" strike="noStrike">
                <a:solidFill>
                  <a:srgbClr val="1F2937"/>
                </a:solidFill>
                <a:latin typeface="Calibri"/>
                <a:ea typeface="Calibri"/>
                <a:cs typeface="Calibri"/>
                <a:sym typeface="Calibri"/>
              </a:rPr>
              <a:t>Descubrieron que los gráficos de ruido experimental de fondo eran IDÉNTICOS píxel por píxel para experimentos distintos a temperaturas distintas.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Físicamente Imposible: </a:t>
            </a:r>
            <a:r>
              <a:rPr b="0" i="0" lang="en-US" sz="1100" u="none" cap="none" strike="noStrike">
                <a:solidFill>
                  <a:srgbClr val="1F2937"/>
                </a:solidFill>
                <a:latin typeface="Calibri"/>
                <a:ea typeface="Calibri"/>
                <a:cs typeface="Calibri"/>
                <a:sym typeface="Calibri"/>
              </a:rPr>
              <a:t>El ruido térmico real jamás puede repetirse exactamente: era la misma función duplicada con copy-paste.</a:t>
            </a:r>
            <a:endParaRPr/>
          </a:p>
        </p:txBody>
      </p:sp>
      <p:sp>
        <p:nvSpPr>
          <p:cNvPr id="134" name="Google Shape;134;p5"/>
          <p:cNvSpPr/>
          <p:nvPr/>
        </p:nvSpPr>
        <p:spPr>
          <a:xfrm>
            <a:off x="6217920" y="1645920"/>
            <a:ext cx="5212080" cy="4572000"/>
          </a:xfrm>
          <a:prstGeom prst="roundRect">
            <a:avLst>
              <a:gd fmla="val 16667" name="adj"/>
            </a:avLst>
          </a:prstGeom>
          <a:solidFill>
            <a:srgbClr val="F8FAFC"/>
          </a:solidFill>
          <a:ln cap="flat" cmpd="sng" w="1905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5" name="Google Shape;135;p5"/>
          <p:cNvSpPr txBox="1"/>
          <p:nvPr/>
        </p:nvSpPr>
        <p:spPr>
          <a:xfrm>
            <a:off x="6446520" y="1828800"/>
            <a:ext cx="475488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Comité Beasley y Sanciones Históricas</a:t>
            </a:r>
            <a:endParaRPr b="0" i="0" sz="1800" u="none" cap="none" strike="noStrike">
              <a:solidFill>
                <a:schemeClr val="dk1"/>
              </a:solidFill>
              <a:latin typeface="Calibri"/>
              <a:ea typeface="Calibri"/>
              <a:cs typeface="Calibri"/>
              <a:sym typeface="Calibri"/>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Comité Beasley (2002): </a:t>
            </a:r>
            <a:r>
              <a:rPr b="0" i="0" lang="en-US" sz="1100" u="none" cap="none" strike="noStrike">
                <a:solidFill>
                  <a:srgbClr val="1F2937"/>
                </a:solidFill>
                <a:latin typeface="Calibri"/>
                <a:ea typeface="Calibri"/>
                <a:cs typeface="Calibri"/>
                <a:sym typeface="Calibri"/>
              </a:rPr>
              <a:t>Comisión independiente liderada por Stanford concluyó fraude científico flagrante en al menos 16 papers.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Retracción Masiva: </a:t>
            </a:r>
            <a:r>
              <a:rPr b="0" i="0" lang="en-US" sz="1100" u="none" cap="none" strike="noStrike">
                <a:solidFill>
                  <a:srgbClr val="1F2937"/>
                </a:solidFill>
                <a:latin typeface="Calibri"/>
                <a:ea typeface="Calibri"/>
                <a:cs typeface="Calibri"/>
                <a:sym typeface="Calibri"/>
              </a:rPr>
              <a:t>Science retractó 8 artículos, Nature retractó 7, y más de una docena en Physical Review.</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Despido Fulminante: </a:t>
            </a:r>
            <a:r>
              <a:rPr b="0" i="0" lang="en-US" sz="1100" u="none" cap="none" strike="noStrike">
                <a:solidFill>
                  <a:srgbClr val="1F2937"/>
                </a:solidFill>
                <a:latin typeface="Calibri"/>
                <a:ea typeface="Calibri"/>
                <a:cs typeface="Calibri"/>
                <a:sym typeface="Calibri"/>
              </a:rPr>
              <a:t>Schön fue expulsado de Bell Labs de inmediato.</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Revocación de Doctorado: </a:t>
            </a:r>
            <a:r>
              <a:rPr b="0" i="0" lang="en-US" sz="1100" u="none" cap="none" strike="noStrike">
                <a:solidFill>
                  <a:srgbClr val="1F2937"/>
                </a:solidFill>
                <a:latin typeface="Calibri"/>
                <a:ea typeface="Calibri"/>
                <a:cs typeface="Calibri"/>
                <a:sym typeface="Calibri"/>
              </a:rPr>
              <a:t>La Univ. de Konstanz le revocó formalmente su título de Doctor (PhD), fallo ratificado por la Corte Federal Alemana en 2011.</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Legado Normativo: </a:t>
            </a:r>
            <a:r>
              <a:rPr b="0" i="0" lang="en-US" sz="1100" u="none" cap="none" strike="noStrike">
                <a:solidFill>
                  <a:srgbClr val="1F2937"/>
                </a:solidFill>
                <a:latin typeface="Calibri"/>
                <a:ea typeface="Calibri"/>
                <a:cs typeface="Calibri"/>
                <a:sym typeface="Calibri"/>
              </a:rPr>
              <a:t>Imposición mundial de protocolos de conservación obligatoria de datos crudos.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p:nvPr/>
        </p:nvSpPr>
        <p:spPr>
          <a:xfrm>
            <a:off x="731520" y="411480"/>
            <a:ext cx="4114800" cy="320040"/>
          </a:xfrm>
          <a:prstGeom prst="roundRect">
            <a:avLst>
              <a:gd fmla="val 16667" name="adj"/>
            </a:avLst>
          </a:prstGeom>
          <a:solidFill>
            <a:srgbClr val="2B6CB0"/>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CASO INFORMÁTICA | CS &amp; AI</a:t>
            </a:r>
            <a:endParaRPr/>
          </a:p>
        </p:txBody>
      </p:sp>
      <p:sp>
        <p:nvSpPr>
          <p:cNvPr id="142" name="Google Shape;142;p6"/>
          <p:cNvSpPr txBox="1"/>
          <p:nvPr/>
        </p:nvSpPr>
        <p:spPr>
          <a:xfrm>
            <a:off x="731520" y="777240"/>
            <a:ext cx="106984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365D"/>
                </a:solidFill>
                <a:latin typeface="Calibri"/>
                <a:ea typeface="Calibri"/>
                <a:cs typeface="Calibri"/>
                <a:sym typeface="Calibri"/>
              </a:rPr>
              <a:t>Escándalo ACM: Paper Mills y Retracciones Masivas</a:t>
            </a:r>
            <a:endParaRPr/>
          </a:p>
        </p:txBody>
      </p:sp>
      <p:sp>
        <p:nvSpPr>
          <p:cNvPr id="143" name="Google Shape;143;p6"/>
          <p:cNvSpPr/>
          <p:nvPr/>
        </p:nvSpPr>
        <p:spPr>
          <a:xfrm>
            <a:off x="731520" y="1645920"/>
            <a:ext cx="5120640" cy="4572000"/>
          </a:xfrm>
          <a:prstGeom prst="roundRect">
            <a:avLst>
              <a:gd fmla="val 16667" name="adj"/>
            </a:avLst>
          </a:prstGeom>
          <a:solidFill>
            <a:srgbClr val="F8FAFC"/>
          </a:solidFill>
          <a:ln cap="flat" cmpd="sng" w="1905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4" name="Google Shape;144;p6"/>
          <p:cNvSpPr txBox="1"/>
          <p:nvPr/>
        </p:nvSpPr>
        <p:spPr>
          <a:xfrm>
            <a:off x="960120" y="1828800"/>
            <a:ext cx="466344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La Editorial Afectada y el Ecosistema</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ACM (Association for Computing Machinery): </a:t>
            </a:r>
            <a:r>
              <a:rPr b="0" i="0" lang="en-US" sz="1100" u="none" cap="none" strike="noStrike">
                <a:solidFill>
                  <a:srgbClr val="1F2937"/>
                </a:solidFill>
                <a:latin typeface="Calibri"/>
                <a:ea typeface="Calibri"/>
                <a:cs typeface="Calibri"/>
                <a:sym typeface="Calibri"/>
              </a:rPr>
              <a:t>La sociedad científica en computación más prestigiosa del planeta (creadora del Premio Turing).</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Conferencias Afectadas: </a:t>
            </a:r>
            <a:r>
              <a:rPr b="0" i="0" lang="en-US" sz="1100" u="none" cap="none" strike="noStrike">
                <a:solidFill>
                  <a:srgbClr val="1F2937"/>
                </a:solidFill>
                <a:latin typeface="Calibri"/>
                <a:ea typeface="Calibri"/>
                <a:cs typeface="Calibri"/>
                <a:sym typeface="Calibri"/>
              </a:rPr>
              <a:t>Actas de conferencias ICPS: ICICN (Redes) e ICISS (Sistemas de Información), 2021-2022.</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Dominio Temático: </a:t>
            </a:r>
            <a:r>
              <a:rPr b="0" i="0" lang="en-US" sz="1100" u="none" cap="none" strike="noStrike">
                <a:solidFill>
                  <a:srgbClr val="1F2937"/>
                </a:solidFill>
                <a:latin typeface="Calibri"/>
                <a:ea typeface="Calibri"/>
                <a:cs typeface="Calibri"/>
                <a:sym typeface="Calibri"/>
              </a:rPr>
              <a:t>Inteligencia Artificial, Deep Learning, Cloud Computing, Ciberseguridad.</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La Metamorfosis del Fraude: </a:t>
            </a:r>
            <a:r>
              <a:rPr b="0" i="0" lang="en-US" sz="1100" u="none" cap="none" strike="noStrike">
                <a:solidFill>
                  <a:srgbClr val="1F2937"/>
                </a:solidFill>
                <a:latin typeface="Calibri"/>
                <a:ea typeface="Calibri"/>
                <a:cs typeface="Calibri"/>
                <a:sym typeface="Calibri"/>
              </a:rPr>
              <a:t>Transición del fraude individual de laboratorio a una industria delictiva organizada: las fábricas de papers (*Paper Mills*).</a:t>
            </a:r>
            <a:endParaRPr/>
          </a:p>
        </p:txBody>
      </p:sp>
      <p:sp>
        <p:nvSpPr>
          <p:cNvPr id="145" name="Google Shape;145;p6"/>
          <p:cNvSpPr/>
          <p:nvPr/>
        </p:nvSpPr>
        <p:spPr>
          <a:xfrm>
            <a:off x="6217920" y="1645920"/>
            <a:ext cx="5212080" cy="4572000"/>
          </a:xfrm>
          <a:prstGeom prst="roundRect">
            <a:avLst>
              <a:gd fmla="val 16667" name="adj"/>
            </a:avLst>
          </a:prstGeom>
          <a:solidFill>
            <a:srgbClr val="F8FAFC"/>
          </a:solidFill>
          <a:ln cap="flat" cmpd="sng" w="19050">
            <a:solidFill>
              <a:srgbClr val="991B1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6" name="Google Shape;146;p6"/>
          <p:cNvSpPr txBox="1"/>
          <p:nvPr/>
        </p:nvSpPr>
        <p:spPr>
          <a:xfrm>
            <a:off x="6446520" y="1828800"/>
            <a:ext cx="475488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La Mercantilización de la Autoría</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Mercado Negro Académico: </a:t>
            </a:r>
            <a:r>
              <a:rPr b="0" i="0" lang="en-US" sz="1100" u="none" cap="none" strike="noStrike">
                <a:solidFill>
                  <a:srgbClr val="1F2937"/>
                </a:solidFill>
                <a:latin typeface="Calibri"/>
                <a:ea typeface="Calibri"/>
                <a:cs typeface="Calibri"/>
                <a:sym typeface="Calibri"/>
              </a:rPr>
              <a:t>Empresas intermediarias que redactan artículos 'llave en mano' y subastan puestos de primer autor y coautor.</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Tarifas de Venta: </a:t>
            </a:r>
            <a:r>
              <a:rPr b="0" i="0" lang="en-US" sz="1100" u="none" cap="none" strike="noStrike">
                <a:solidFill>
                  <a:srgbClr val="1F2937"/>
                </a:solidFill>
                <a:latin typeface="Calibri"/>
                <a:ea typeface="Calibri"/>
                <a:cs typeface="Calibri"/>
                <a:sym typeface="Calibri"/>
              </a:rPr>
              <a:t>Desde $500 hasta $3,000 USD por firma según el índice de impacto de la conferencia.</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Incentivos Perversos: </a:t>
            </a:r>
            <a:r>
              <a:rPr b="0" i="0" lang="en-US" sz="1100" u="none" cap="none" strike="noStrike">
                <a:solidFill>
                  <a:srgbClr val="1F2937"/>
                </a:solidFill>
                <a:latin typeface="Calibri"/>
                <a:ea typeface="Calibri"/>
                <a:cs typeface="Calibri"/>
                <a:sym typeface="Calibri"/>
              </a:rPr>
              <a:t>Políticas institucionales en universidades de Asia y Medio Oriente que premiaban con dinero en efectivo la publicación en bases Scopus/ACM.</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Violación Singapur Resp. 6: </a:t>
            </a:r>
            <a:r>
              <a:rPr b="0" i="0" lang="en-US" sz="1100" u="none" cap="none" strike="noStrike">
                <a:solidFill>
                  <a:srgbClr val="1F2937"/>
                </a:solidFill>
                <a:latin typeface="Calibri"/>
                <a:ea typeface="Calibri"/>
                <a:cs typeface="Calibri"/>
                <a:sym typeface="Calibri"/>
              </a:rPr>
              <a:t>Autoría comprada sin contribución intelectual alguna, convirtiendo la ciencia en un bien transable.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p:nvPr/>
        </p:nvSpPr>
        <p:spPr>
          <a:xfrm>
            <a:off x="731520" y="411480"/>
            <a:ext cx="4114800" cy="320040"/>
          </a:xfrm>
          <a:prstGeom prst="roundRect">
            <a:avLst>
              <a:gd fmla="val 16667" name="adj"/>
            </a:avLst>
          </a:prstGeom>
          <a:solidFill>
            <a:srgbClr val="2B6CB0"/>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CASO INFORMÁTICA | MECANISMOS</a:t>
            </a:r>
            <a:endParaRPr/>
          </a:p>
        </p:txBody>
      </p:sp>
      <p:sp>
        <p:nvSpPr>
          <p:cNvPr id="153" name="Google Shape;153;p7"/>
          <p:cNvSpPr txBox="1"/>
          <p:nvPr/>
        </p:nvSpPr>
        <p:spPr>
          <a:xfrm>
            <a:off x="731520" y="777240"/>
            <a:ext cx="106984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365D"/>
                </a:solidFill>
                <a:latin typeface="Calibri"/>
                <a:ea typeface="Calibri"/>
                <a:cs typeface="Calibri"/>
                <a:sym typeface="Calibri"/>
              </a:rPr>
              <a:t>'Tortured Phrases' y Secuestro del Peer Review</a:t>
            </a:r>
            <a:endParaRPr/>
          </a:p>
        </p:txBody>
      </p:sp>
      <p:sp>
        <p:nvSpPr>
          <p:cNvPr id="154" name="Google Shape;154;p7"/>
          <p:cNvSpPr/>
          <p:nvPr/>
        </p:nvSpPr>
        <p:spPr>
          <a:xfrm>
            <a:off x="731520" y="1645920"/>
            <a:ext cx="5669280" cy="4572000"/>
          </a:xfrm>
          <a:prstGeom prst="roundRect">
            <a:avLst>
              <a:gd fmla="val 16667" name="adj"/>
            </a:avLst>
          </a:prstGeom>
          <a:solidFill>
            <a:srgbClr val="F8FAFC"/>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5" name="Google Shape;155;p7"/>
          <p:cNvSpPr txBox="1"/>
          <p:nvPr/>
        </p:nvSpPr>
        <p:spPr>
          <a:xfrm>
            <a:off x="960120" y="1828800"/>
            <a:ext cx="521208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Evasión de Plagio: 'Tortured Phrases'</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Mecanismo Algorítmico: </a:t>
            </a:r>
            <a:r>
              <a:rPr b="0" i="0" lang="en-US" sz="1100" u="none" cap="none" strike="noStrike">
                <a:solidFill>
                  <a:srgbClr val="1F2937"/>
                </a:solidFill>
                <a:latin typeface="Calibri"/>
                <a:ea typeface="Calibri"/>
                <a:cs typeface="Calibri"/>
                <a:sym typeface="Calibri"/>
              </a:rPr>
              <a:t>Uso de 'text spinners' (parafraseo automático por sinónimos inversos) para burlar detectores antiplagio (Turnitin/iThenticate).</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Artificial Intelligence: </a:t>
            </a:r>
            <a:r>
              <a:rPr b="0" i="0" lang="en-US" sz="1100" u="none" cap="none" strike="noStrike">
                <a:solidFill>
                  <a:srgbClr val="1F2937"/>
                </a:solidFill>
                <a:latin typeface="Calibri"/>
                <a:ea typeface="Calibri"/>
                <a:cs typeface="Calibri"/>
                <a:sym typeface="Calibri"/>
              </a:rPr>
              <a:t>Reemplazado por 'Counterfeit Consciousness' (Conciencia falsificada).</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Deep Learning: </a:t>
            </a:r>
            <a:r>
              <a:rPr b="0" i="0" lang="en-US" sz="1100" u="none" cap="none" strike="noStrike">
                <a:solidFill>
                  <a:srgbClr val="1F2937"/>
                </a:solidFill>
                <a:latin typeface="Calibri"/>
                <a:ea typeface="Calibri"/>
                <a:cs typeface="Calibri"/>
                <a:sym typeface="Calibri"/>
              </a:rPr>
              <a:t>Reemplazado por 'Profound Learning' (Aprendizaje existencial profundo).</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Cloud Computing: </a:t>
            </a:r>
            <a:r>
              <a:rPr b="0" i="0" lang="en-US" sz="1100" u="none" cap="none" strike="noStrike">
                <a:solidFill>
                  <a:srgbClr val="1F2937"/>
                </a:solidFill>
                <a:latin typeface="Calibri"/>
                <a:ea typeface="Calibri"/>
                <a:cs typeface="Calibri"/>
                <a:sym typeface="Calibri"/>
              </a:rPr>
              <a:t>Reemplazado por 'Haze Computing' (Computación en la bruma).</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Random Forest: </a:t>
            </a:r>
            <a:r>
              <a:rPr b="0" i="0" lang="en-US" sz="1100" u="none" cap="none" strike="noStrike">
                <a:solidFill>
                  <a:srgbClr val="1F2937"/>
                </a:solidFill>
                <a:latin typeface="Calibri"/>
                <a:ea typeface="Calibri"/>
                <a:cs typeface="Calibri"/>
                <a:sym typeface="Calibri"/>
              </a:rPr>
              <a:t>Reemplazado por 'Arbitrary Timberland' (Zona boscosa arbitraria).</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Random Value: </a:t>
            </a:r>
            <a:r>
              <a:rPr b="0" i="0" lang="en-US" sz="1100" u="none" cap="none" strike="noStrike">
                <a:solidFill>
                  <a:srgbClr val="1F2937"/>
                </a:solidFill>
                <a:latin typeface="Calibri"/>
                <a:ea typeface="Calibri"/>
                <a:cs typeface="Calibri"/>
                <a:sym typeface="Calibri"/>
              </a:rPr>
              <a:t>Reemplazado por 'Irregular Worth' (Mérito irregular).</a:t>
            </a:r>
            <a:endParaRPr/>
          </a:p>
        </p:txBody>
      </p:sp>
      <p:sp>
        <p:nvSpPr>
          <p:cNvPr id="156" name="Google Shape;156;p7"/>
          <p:cNvSpPr/>
          <p:nvPr/>
        </p:nvSpPr>
        <p:spPr>
          <a:xfrm>
            <a:off x="6675120" y="1645920"/>
            <a:ext cx="4754880" cy="4572000"/>
          </a:xfrm>
          <a:prstGeom prst="roundRect">
            <a:avLst>
              <a:gd fmla="val 16667" name="adj"/>
            </a:avLst>
          </a:prstGeom>
          <a:solidFill>
            <a:srgbClr val="F8FAFC"/>
          </a:solidFill>
          <a:ln cap="flat" cmpd="sng" w="19050">
            <a:solidFill>
              <a:srgbClr val="991B1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7" name="Google Shape;157;p7"/>
          <p:cNvSpPr txBox="1"/>
          <p:nvPr/>
        </p:nvSpPr>
        <p:spPr>
          <a:xfrm>
            <a:off x="6903720" y="1828800"/>
            <a:ext cx="429768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Secuestro de la Revisión por Pares</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Peer-Review Rings: </a:t>
            </a:r>
            <a:r>
              <a:rPr b="0" i="0" lang="en-US" sz="1100" u="none" cap="none" strike="noStrike">
                <a:solidFill>
                  <a:srgbClr val="1F2937"/>
                </a:solidFill>
                <a:latin typeface="Calibri"/>
                <a:ea typeface="Calibri"/>
                <a:cs typeface="Calibri"/>
                <a:sym typeface="Calibri"/>
              </a:rPr>
              <a:t>Redes colusorias donde los autores creaban cuentas ficticias de revisores con correos institucionales apócrifos.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Auto-Aprobación Exprés: </a:t>
            </a:r>
            <a:r>
              <a:rPr b="0" i="0" lang="en-US" sz="1100" u="none" cap="none" strike="noStrike">
                <a:solidFill>
                  <a:srgbClr val="1F2937"/>
                </a:solidFill>
                <a:latin typeface="Calibri"/>
                <a:ea typeface="Calibri"/>
                <a:cs typeface="Calibri"/>
                <a:sym typeface="Calibri"/>
              </a:rPr>
              <a:t>Artículos aprobados en 48 horas sin ninguna objeción crítica.</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Violación Singapur Resp. 8: </a:t>
            </a:r>
            <a:r>
              <a:rPr b="0" i="0" lang="en-US" sz="1100" u="none" cap="none" strike="noStrike">
                <a:solidFill>
                  <a:srgbClr val="1F2937"/>
                </a:solidFill>
                <a:latin typeface="Calibri"/>
                <a:ea typeface="Calibri"/>
                <a:cs typeface="Calibri"/>
                <a:sym typeface="Calibri"/>
              </a:rPr>
              <a:t>Destrucción absoluta del principio de evaluación independiente, rigurosa y confidencial.</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Falla Editorial: </a:t>
            </a:r>
            <a:r>
              <a:rPr b="0" i="0" lang="en-US" sz="1100" u="none" cap="none" strike="noStrike">
                <a:solidFill>
                  <a:srgbClr val="1F2937"/>
                </a:solidFill>
                <a:latin typeface="Calibri"/>
                <a:ea typeface="Calibri"/>
                <a:cs typeface="Calibri"/>
                <a:sym typeface="Calibri"/>
              </a:rPr>
              <a:t>La ACM tercerizó la gestión de actas a comités organizadores locales sin auditoría central.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p:nvPr/>
        </p:nvSpPr>
        <p:spPr>
          <a:xfrm>
            <a:off x="731520" y="411480"/>
            <a:ext cx="4114800" cy="320040"/>
          </a:xfrm>
          <a:prstGeom prst="roundRect">
            <a:avLst>
              <a:gd fmla="val 16667" name="adj"/>
            </a:avLst>
          </a:prstGeom>
          <a:solidFill>
            <a:srgbClr val="2B6CB0"/>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CASO INFORMÁTICA | REVELACIÓN</a:t>
            </a:r>
            <a:endParaRPr/>
          </a:p>
        </p:txBody>
      </p:sp>
      <p:sp>
        <p:nvSpPr>
          <p:cNvPr id="164" name="Google Shape;164;p8"/>
          <p:cNvSpPr txBox="1"/>
          <p:nvPr/>
        </p:nvSpPr>
        <p:spPr>
          <a:xfrm>
            <a:off x="731520" y="777240"/>
            <a:ext cx="106984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365D"/>
                </a:solidFill>
                <a:latin typeface="Calibri"/>
                <a:ea typeface="Calibri"/>
                <a:cs typeface="Calibri"/>
                <a:sym typeface="Calibri"/>
              </a:rPr>
              <a:t>Minería de Texto, Retraction Watch y Sanciones ACM</a:t>
            </a:r>
            <a:endParaRPr/>
          </a:p>
        </p:txBody>
      </p:sp>
      <p:sp>
        <p:nvSpPr>
          <p:cNvPr id="165" name="Google Shape;165;p8"/>
          <p:cNvSpPr/>
          <p:nvPr/>
        </p:nvSpPr>
        <p:spPr>
          <a:xfrm>
            <a:off x="731520" y="1645920"/>
            <a:ext cx="5120640" cy="4572000"/>
          </a:xfrm>
          <a:prstGeom prst="roundRect">
            <a:avLst>
              <a:gd fmla="val 16667" name="adj"/>
            </a:avLst>
          </a:prstGeom>
          <a:solidFill>
            <a:srgbClr val="F8FAFC"/>
          </a:solidFill>
          <a:ln cap="flat" cmpd="sng" w="19050">
            <a:solidFill>
              <a:srgbClr val="0D948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6" name="Google Shape;166;p8"/>
          <p:cNvSpPr txBox="1"/>
          <p:nvPr/>
        </p:nvSpPr>
        <p:spPr>
          <a:xfrm>
            <a:off x="960120" y="1828800"/>
            <a:ext cx="466344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Los Detectives Digitales y PubPeer</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Guillaume Cabanac: </a:t>
            </a:r>
            <a:r>
              <a:rPr b="0" i="0" lang="en-US" sz="1100" u="none" cap="none" strike="noStrike">
                <a:solidFill>
                  <a:srgbClr val="1F2937"/>
                </a:solidFill>
                <a:latin typeface="Calibri"/>
                <a:ea typeface="Calibri"/>
                <a:cs typeface="Calibri"/>
                <a:sym typeface="Calibri"/>
              </a:rPr>
              <a:t>Profesor de CS (U. Toulouse III); programó scripts con expresiones regulares para rastrear frases torturadas.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Problematic Paper Screener: </a:t>
            </a:r>
            <a:r>
              <a:rPr b="0" i="0" lang="en-US" sz="1100" u="none" cap="none" strike="noStrike">
                <a:solidFill>
                  <a:srgbClr val="1F2937"/>
                </a:solidFill>
                <a:latin typeface="Calibri"/>
                <a:ea typeface="Calibri"/>
                <a:cs typeface="Calibri"/>
                <a:sym typeface="Calibri"/>
              </a:rPr>
              <a:t>Plataforma automatizada que rastrea millones de papers indexados buscando anomalías semánticas.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Cyril Labbé y A. Magazinov: </a:t>
            </a:r>
            <a:r>
              <a:rPr b="0" i="0" lang="en-US" sz="1100" u="none" cap="none" strike="noStrike">
                <a:solidFill>
                  <a:srgbClr val="1F2937"/>
                </a:solidFill>
                <a:latin typeface="Calibri"/>
                <a:ea typeface="Calibri"/>
                <a:cs typeface="Calibri"/>
                <a:sym typeface="Calibri"/>
              </a:rPr>
              <a:t>Expertos en detección de textos sintéticos; denunciaron cientos de publicaciones en PubPeer.</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Impacto Mediático: </a:t>
            </a:r>
            <a:r>
              <a:rPr b="0" i="0" lang="en-US" sz="1100" u="none" cap="none" strike="noStrike">
                <a:solidFill>
                  <a:srgbClr val="1F2937"/>
                </a:solidFill>
                <a:latin typeface="Calibri"/>
                <a:ea typeface="Calibri"/>
                <a:cs typeface="Calibri"/>
                <a:sym typeface="Calibri"/>
              </a:rPr>
              <a:t>Cobertura de impacto en Nature y Retraction Watch forzó la intervención de las directivas de la ACM.</a:t>
            </a:r>
            <a:endParaRPr/>
          </a:p>
        </p:txBody>
      </p:sp>
      <p:sp>
        <p:nvSpPr>
          <p:cNvPr id="167" name="Google Shape;167;p8"/>
          <p:cNvSpPr/>
          <p:nvPr/>
        </p:nvSpPr>
        <p:spPr>
          <a:xfrm>
            <a:off x="6217920" y="1645920"/>
            <a:ext cx="5212080" cy="4572000"/>
          </a:xfrm>
          <a:prstGeom prst="roundRect">
            <a:avLst>
              <a:gd fmla="val 16667" name="adj"/>
            </a:avLst>
          </a:prstGeom>
          <a:solidFill>
            <a:srgbClr val="F8FAFC"/>
          </a:solidFill>
          <a:ln cap="flat" cmpd="sng" w="19050">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8" name="Google Shape;168;p8"/>
          <p:cNvSpPr txBox="1"/>
          <p:nvPr/>
        </p:nvSpPr>
        <p:spPr>
          <a:xfrm>
            <a:off x="6446520" y="1828800"/>
            <a:ext cx="475488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Consecuencias y Nexo con Beall's List</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Retracción de &gt;320 Papers: </a:t>
            </a:r>
            <a:r>
              <a:rPr b="0" i="0" lang="en-US" sz="1100" u="none" cap="none" strike="noStrike">
                <a:solidFill>
                  <a:srgbClr val="1F2937"/>
                </a:solidFill>
                <a:latin typeface="Calibri"/>
                <a:ea typeface="Calibri"/>
                <a:cs typeface="Calibri"/>
                <a:sym typeface="Calibri"/>
              </a:rPr>
              <a:t>En abril de 2022, ACM ejecutó la retractación masiva en bloque de conferencias completas.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Veto Académico: </a:t>
            </a:r>
            <a:r>
              <a:rPr b="0" i="0" lang="en-US" sz="1100" u="none" cap="none" strike="noStrike">
                <a:solidFill>
                  <a:srgbClr val="1F2937"/>
                </a:solidFill>
                <a:latin typeface="Calibri"/>
                <a:ea typeface="Calibri"/>
                <a:cs typeface="Calibri"/>
                <a:sym typeface="Calibri"/>
              </a:rPr>
              <a:t>Suspensión de derechos de publicación por 3 a 10 años a los autores involucrados.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Conexión Beall's List: </a:t>
            </a:r>
            <a:r>
              <a:rPr b="0" i="0" lang="en-US" sz="1100" u="none" cap="none" strike="noStrike">
                <a:solidFill>
                  <a:srgbClr val="1F2937"/>
                </a:solidFill>
                <a:latin typeface="Calibri"/>
                <a:ea typeface="Calibri"/>
                <a:cs typeface="Calibri"/>
                <a:sym typeface="Calibri"/>
              </a:rPr>
              <a:t>Demostró que el modelo de conferencias predatorias (lucro sobre rigor) logró penetrar a editoriales de élite.</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Riesgo de Data Poisoning: </a:t>
            </a:r>
            <a:r>
              <a:rPr b="0" i="0" lang="en-US" sz="1100" u="none" cap="none" strike="noStrike">
                <a:solidFill>
                  <a:srgbClr val="1F2937"/>
                </a:solidFill>
                <a:latin typeface="Calibri"/>
                <a:ea typeface="Calibri"/>
                <a:cs typeface="Calibri"/>
                <a:sym typeface="Calibri"/>
              </a:rPr>
              <a:t>Peligro ético mayor: estos papers falsos contaminan los datos de entrenamiento de futuros modelos de lenguaje e IA.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9"/>
          <p:cNvSpPr/>
          <p:nvPr/>
        </p:nvSpPr>
        <p:spPr>
          <a:xfrm>
            <a:off x="731520" y="411480"/>
            <a:ext cx="4114800" cy="320040"/>
          </a:xfrm>
          <a:prstGeom prst="roundRect">
            <a:avLst>
              <a:gd fmla="val 16667" name="adj"/>
            </a:avLst>
          </a:prstGeom>
          <a:solidFill>
            <a:srgbClr val="2B6CB0"/>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ANÁLISIS COMPARATIVO</a:t>
            </a:r>
            <a:endParaRPr/>
          </a:p>
        </p:txBody>
      </p:sp>
      <p:sp>
        <p:nvSpPr>
          <p:cNvPr id="175" name="Google Shape;175;p9"/>
          <p:cNvSpPr txBox="1"/>
          <p:nvPr/>
        </p:nvSpPr>
        <p:spPr>
          <a:xfrm>
            <a:off x="731520" y="777240"/>
            <a:ext cx="106984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365D"/>
                </a:solidFill>
                <a:latin typeface="Calibri"/>
                <a:ea typeface="Calibri"/>
                <a:cs typeface="Calibri"/>
                <a:sym typeface="Calibri"/>
              </a:rPr>
              <a:t>Jan Hendrik Schön vs. Escándalo ACM Paper Mills</a:t>
            </a:r>
            <a:endParaRPr/>
          </a:p>
        </p:txBody>
      </p:sp>
      <p:graphicFrame>
        <p:nvGraphicFramePr>
          <p:cNvPr id="176" name="Google Shape;176;p9"/>
          <p:cNvGraphicFramePr/>
          <p:nvPr/>
        </p:nvGraphicFramePr>
        <p:xfrm>
          <a:off x="731520" y="1645920"/>
          <a:ext cx="3000000" cy="3000000"/>
        </p:xfrm>
        <a:graphic>
          <a:graphicData uri="http://schemas.openxmlformats.org/drawingml/2006/table">
            <a:tbl>
              <a:tblPr bandRow="1" firstRow="1">
                <a:noFill/>
                <a:tableStyleId>{BAC9DAFC-9510-4700-B124-3DB487F78BF7}</a:tableStyleId>
              </a:tblPr>
              <a:tblGrid>
                <a:gridCol w="2103125"/>
                <a:gridCol w="4297675"/>
                <a:gridCol w="4297675"/>
              </a:tblGrid>
              <a:tr h="746750">
                <a:tc>
                  <a:txBody>
                    <a:bodyPr/>
                    <a:lstStyle/>
                    <a:p>
                      <a:pPr indent="0" lvl="0" marL="0" marR="0" rtl="0" algn="ctr">
                        <a:spcBef>
                          <a:spcPts val="0"/>
                        </a:spcBef>
                        <a:spcAft>
                          <a:spcPts val="0"/>
                        </a:spcAft>
                        <a:buNone/>
                      </a:pPr>
                      <a:r>
                        <a:rPr b="1" lang="en-US" sz="1100" u="none" cap="none" strike="noStrike">
                          <a:solidFill>
                            <a:srgbClr val="FFFFFF"/>
                          </a:solidFill>
                        </a:rPr>
                        <a:t>Dimensión</a:t>
                      </a:r>
                      <a:endParaRPr/>
                    </a:p>
                  </a:txBody>
                  <a:tcPr marT="45725" marB="45725" marR="91450" marL="91450">
                    <a:solidFill>
                      <a:srgbClr val="1A365D"/>
                    </a:solidFill>
                  </a:tcPr>
                </a:tc>
                <a:tc>
                  <a:txBody>
                    <a:bodyPr/>
                    <a:lstStyle/>
                    <a:p>
                      <a:pPr indent="0" lvl="0" marL="0" marR="0" rtl="0" algn="ctr">
                        <a:spcBef>
                          <a:spcPts val="0"/>
                        </a:spcBef>
                        <a:spcAft>
                          <a:spcPts val="0"/>
                        </a:spcAft>
                        <a:buNone/>
                      </a:pPr>
                      <a:r>
                        <a:rPr b="1" lang="en-US" sz="1100" u="none" cap="none" strike="noStrike">
                          <a:solidFill>
                            <a:srgbClr val="FFFFFF"/>
                          </a:solidFill>
                        </a:rPr>
                        <a:t>Caso 1: Schön (Física)</a:t>
                      </a:r>
                      <a:endParaRPr/>
                    </a:p>
                  </a:txBody>
                  <a:tcPr marT="45725" marB="45725" marR="91450" marL="91450">
                    <a:solidFill>
                      <a:srgbClr val="1A365D"/>
                    </a:solidFill>
                  </a:tcPr>
                </a:tc>
                <a:tc>
                  <a:txBody>
                    <a:bodyPr/>
                    <a:lstStyle/>
                    <a:p>
                      <a:pPr indent="0" lvl="0" marL="0" marR="0" rtl="0" algn="ctr">
                        <a:spcBef>
                          <a:spcPts val="0"/>
                        </a:spcBef>
                        <a:spcAft>
                          <a:spcPts val="0"/>
                        </a:spcAft>
                        <a:buNone/>
                      </a:pPr>
                      <a:r>
                        <a:rPr b="1" lang="en-US" sz="1100" u="none" cap="none" strike="noStrike">
                          <a:solidFill>
                            <a:srgbClr val="FFFFFF"/>
                          </a:solidFill>
                        </a:rPr>
                        <a:t>Caso 2: ACM (Informática / IA)</a:t>
                      </a:r>
                      <a:endParaRPr/>
                    </a:p>
                  </a:txBody>
                  <a:tcPr marT="45725" marB="45725" marR="91450" marL="91450">
                    <a:solidFill>
                      <a:srgbClr val="1A365D"/>
                    </a:solidFill>
                  </a:tcPr>
                </a:tc>
              </a:tr>
              <a:tr h="746750">
                <a:tc>
                  <a:txBody>
                    <a:bodyPr/>
                    <a:lstStyle/>
                    <a:p>
                      <a:pPr indent="0" lvl="0" marL="0" marR="0" rtl="0" algn="l">
                        <a:spcBef>
                          <a:spcPts val="0"/>
                        </a:spcBef>
                        <a:spcAft>
                          <a:spcPts val="0"/>
                        </a:spcAft>
                        <a:buNone/>
                      </a:pPr>
                      <a:r>
                        <a:rPr b="1" lang="en-US" sz="950" u="none" cap="none" strike="noStrike">
                          <a:solidFill>
                            <a:srgbClr val="1A365D"/>
                          </a:solidFill>
                        </a:rPr>
                        <a:t>Naturaleza del Fraude</a:t>
                      </a:r>
                      <a:endParaRPr/>
                    </a:p>
                  </a:txBody>
                  <a:tcPr marT="45725" marB="45725" marR="91450" marL="91450">
                    <a:solidFill>
                      <a:srgbClr val="F8FAFC"/>
                    </a:solidFill>
                  </a:tcPr>
                </a:tc>
                <a:tc>
                  <a:txBody>
                    <a:bodyPr/>
                    <a:lstStyle/>
                    <a:p>
                      <a:pPr indent="0" lvl="0" marL="0" marR="0" rtl="0" algn="l">
                        <a:spcBef>
                          <a:spcPts val="0"/>
                        </a:spcBef>
                        <a:spcAft>
                          <a:spcPts val="0"/>
                        </a:spcAft>
                        <a:buNone/>
                      </a:pPr>
                      <a:r>
                        <a:rPr lang="en-US" sz="950" u="none" cap="none" strike="noStrike">
                          <a:solidFill>
                            <a:srgbClr val="1F2937"/>
                          </a:solidFill>
                        </a:rPr>
                        <a:t>Artesanal / Individual: Un científico inventando datos en soledad.</a:t>
                      </a:r>
                      <a:endParaRPr/>
                    </a:p>
                  </a:txBody>
                  <a:tcPr marT="45725" marB="45725" marR="91450" marL="91450">
                    <a:solidFill>
                      <a:srgbClr val="F8FAFC"/>
                    </a:solidFill>
                  </a:tcPr>
                </a:tc>
                <a:tc>
                  <a:txBody>
                    <a:bodyPr/>
                    <a:lstStyle/>
                    <a:p>
                      <a:pPr indent="0" lvl="0" marL="0" marR="0" rtl="0" algn="l">
                        <a:spcBef>
                          <a:spcPts val="0"/>
                        </a:spcBef>
                        <a:spcAft>
                          <a:spcPts val="0"/>
                        </a:spcAft>
                        <a:buNone/>
                      </a:pPr>
                      <a:r>
                        <a:rPr lang="en-US" sz="950" u="none" cap="none" strike="noStrike">
                          <a:solidFill>
                            <a:srgbClr val="1F2937"/>
                          </a:solidFill>
                        </a:rPr>
                        <a:t>Industrializado / Sistémico: Redes de paper mills y venta corporativa de autorías.</a:t>
                      </a:r>
                      <a:endParaRPr/>
                    </a:p>
                  </a:txBody>
                  <a:tcPr marT="45725" marB="45725" marR="91450" marL="91450">
                    <a:solidFill>
                      <a:srgbClr val="F8FAFC"/>
                    </a:solidFill>
                  </a:tcPr>
                </a:tc>
              </a:tr>
              <a:tr h="746750">
                <a:tc>
                  <a:txBody>
                    <a:bodyPr/>
                    <a:lstStyle/>
                    <a:p>
                      <a:pPr indent="0" lvl="0" marL="0" marR="0" rtl="0" algn="l">
                        <a:spcBef>
                          <a:spcPts val="0"/>
                        </a:spcBef>
                        <a:spcAft>
                          <a:spcPts val="0"/>
                        </a:spcAft>
                        <a:buNone/>
                      </a:pPr>
                      <a:r>
                        <a:rPr b="1" lang="en-US" sz="950" u="none" cap="none" strike="noStrike">
                          <a:solidFill>
                            <a:srgbClr val="1A365D"/>
                          </a:solidFill>
                        </a:rPr>
                        <a:t>Mecanismo Técnico</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950" u="none" cap="none" strike="noStrike">
                          <a:solidFill>
                            <a:srgbClr val="1F2937"/>
                          </a:solidFill>
                        </a:rPr>
                        <a:t>Funciones matemáticas ideales con simulación manual de ruido térmico.</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950" u="none" cap="none" strike="noStrike">
                          <a:solidFill>
                            <a:srgbClr val="1F2937"/>
                          </a:solidFill>
                        </a:rPr>
                        <a:t>Text spinners (traducción inversa algorítmica) para evadir detectores antiplagio.</a:t>
                      </a:r>
                      <a:endParaRPr/>
                    </a:p>
                  </a:txBody>
                  <a:tcPr marT="45725" marB="45725" marR="91450" marL="91450">
                    <a:solidFill>
                      <a:srgbClr val="FFFFFF"/>
                    </a:solidFill>
                  </a:tcPr>
                </a:tc>
              </a:tr>
              <a:tr h="746750">
                <a:tc>
                  <a:txBody>
                    <a:bodyPr/>
                    <a:lstStyle/>
                    <a:p>
                      <a:pPr indent="0" lvl="0" marL="0" marR="0" rtl="0" algn="l">
                        <a:spcBef>
                          <a:spcPts val="0"/>
                        </a:spcBef>
                        <a:spcAft>
                          <a:spcPts val="0"/>
                        </a:spcAft>
                        <a:buNone/>
                      </a:pPr>
                      <a:r>
                        <a:rPr b="1" lang="en-US" sz="950" u="none" cap="none" strike="noStrike">
                          <a:solidFill>
                            <a:srgbClr val="1A365D"/>
                          </a:solidFill>
                        </a:rPr>
                        <a:t>Falla Institucional</a:t>
                      </a:r>
                      <a:endParaRPr/>
                    </a:p>
                  </a:txBody>
                  <a:tcPr marT="45725" marB="45725" marR="91450" marL="91450">
                    <a:solidFill>
                      <a:srgbClr val="F8FAFC"/>
                    </a:solidFill>
                  </a:tcPr>
                </a:tc>
                <a:tc>
                  <a:txBody>
                    <a:bodyPr/>
                    <a:lstStyle/>
                    <a:p>
                      <a:pPr indent="0" lvl="0" marL="0" marR="0" rtl="0" algn="l">
                        <a:spcBef>
                          <a:spcPts val="0"/>
                        </a:spcBef>
                        <a:spcAft>
                          <a:spcPts val="0"/>
                        </a:spcAft>
                        <a:buNone/>
                      </a:pPr>
                      <a:r>
                        <a:rPr lang="en-US" sz="950" u="none" cap="none" strike="noStrike">
                          <a:solidFill>
                            <a:srgbClr val="1F2937"/>
                          </a:solidFill>
                        </a:rPr>
                        <a:t>Confianza ciega en el prestigio institucional de Bell Labs y coautor sénior.</a:t>
                      </a:r>
                      <a:endParaRPr/>
                    </a:p>
                  </a:txBody>
                  <a:tcPr marT="45725" marB="45725" marR="91450" marL="91450">
                    <a:solidFill>
                      <a:srgbClr val="F8FAFC"/>
                    </a:solidFill>
                  </a:tcPr>
                </a:tc>
                <a:tc>
                  <a:txBody>
                    <a:bodyPr/>
                    <a:lstStyle/>
                    <a:p>
                      <a:pPr indent="0" lvl="0" marL="0" marR="0" rtl="0" algn="l">
                        <a:spcBef>
                          <a:spcPts val="0"/>
                        </a:spcBef>
                        <a:spcAft>
                          <a:spcPts val="0"/>
                        </a:spcAft>
                        <a:buNone/>
                      </a:pPr>
                      <a:r>
                        <a:rPr lang="en-US" sz="950" u="none" cap="none" strike="noStrike">
                          <a:solidFill>
                            <a:srgbClr val="1F2937"/>
                          </a:solidFill>
                        </a:rPr>
                        <a:t>Pérdida de control editorial y subcontratación de actas a congresos lucrativos.</a:t>
                      </a:r>
                      <a:endParaRPr/>
                    </a:p>
                  </a:txBody>
                  <a:tcPr marT="45725" marB="45725" marR="91450" marL="91450">
                    <a:solidFill>
                      <a:srgbClr val="F8FAFC"/>
                    </a:solidFill>
                  </a:tcPr>
                </a:tc>
              </a:tr>
              <a:tr h="746750">
                <a:tc>
                  <a:txBody>
                    <a:bodyPr/>
                    <a:lstStyle/>
                    <a:p>
                      <a:pPr indent="0" lvl="0" marL="0" marR="0" rtl="0" algn="l">
                        <a:spcBef>
                          <a:spcPts val="0"/>
                        </a:spcBef>
                        <a:spcAft>
                          <a:spcPts val="0"/>
                        </a:spcAft>
                        <a:buNone/>
                      </a:pPr>
                      <a:r>
                        <a:rPr b="1" lang="en-US" sz="950" u="none" cap="none" strike="noStrike">
                          <a:solidFill>
                            <a:srgbClr val="1A365D"/>
                          </a:solidFill>
                        </a:rPr>
                        <a:t>Modo de Descubrimiento</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950" u="none" cap="none" strike="noStrike">
                          <a:solidFill>
                            <a:srgbClr val="1F2937"/>
                          </a:solidFill>
                        </a:rPr>
                        <a:t>Incapacidad de replicación empírica y detección ocular de curvas idénticas.</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950" u="none" cap="none" strike="noStrike">
                          <a:solidFill>
                            <a:srgbClr val="1F2937"/>
                          </a:solidFill>
                        </a:rPr>
                        <a:t>Algoritmos de minería de texto (Problematic Paper Screener) y PubPeer.</a:t>
                      </a:r>
                      <a:endParaRPr/>
                    </a:p>
                  </a:txBody>
                  <a:tcPr marT="45725" marB="45725" marR="91450" marL="91450">
                    <a:solidFill>
                      <a:srgbClr val="FFFFFF"/>
                    </a:solidFill>
                  </a:tcPr>
                </a:tc>
              </a:tr>
              <a:tr h="746750">
                <a:tc>
                  <a:txBody>
                    <a:bodyPr/>
                    <a:lstStyle/>
                    <a:p>
                      <a:pPr indent="0" lvl="0" marL="0" marR="0" rtl="0" algn="l">
                        <a:spcBef>
                          <a:spcPts val="0"/>
                        </a:spcBef>
                        <a:spcAft>
                          <a:spcPts val="0"/>
                        </a:spcAft>
                        <a:buNone/>
                      </a:pPr>
                      <a:r>
                        <a:rPr b="1" lang="en-US" sz="950" u="none" cap="none" strike="noStrike">
                          <a:solidFill>
                            <a:srgbClr val="1A365D"/>
                          </a:solidFill>
                        </a:rPr>
                        <a:t>Vínculo con Singapur y On Being a Scientist</a:t>
                      </a:r>
                      <a:endParaRPr/>
                    </a:p>
                  </a:txBody>
                  <a:tcPr marT="45725" marB="45725" marR="91450" marL="91450">
                    <a:solidFill>
                      <a:srgbClr val="F8FAFC"/>
                    </a:solidFill>
                  </a:tcPr>
                </a:tc>
                <a:tc>
                  <a:txBody>
                    <a:bodyPr/>
                    <a:lstStyle/>
                    <a:p>
                      <a:pPr indent="0" lvl="0" marL="0" marR="0" rtl="0" algn="l">
                        <a:spcBef>
                          <a:spcPts val="0"/>
                        </a:spcBef>
                        <a:spcAft>
                          <a:spcPts val="0"/>
                        </a:spcAft>
                        <a:buNone/>
                      </a:pPr>
                      <a:r>
                        <a:rPr lang="en-US" sz="950" u="none" cap="none" strike="noStrike">
                          <a:solidFill>
                            <a:srgbClr val="1F2937"/>
                          </a:solidFill>
                        </a:rPr>
                        <a:t>FFP (Fabricación/Falsificación) y destrucción culpable de bitácoras (Resp. 4).</a:t>
                      </a:r>
                      <a:endParaRPr/>
                    </a:p>
                  </a:txBody>
                  <a:tcPr marT="45725" marB="45725" marR="91450" marL="91450">
                    <a:solidFill>
                      <a:srgbClr val="F8FAFC"/>
                    </a:solidFill>
                  </a:tcPr>
                </a:tc>
                <a:tc>
                  <a:txBody>
                    <a:bodyPr/>
                    <a:lstStyle/>
                    <a:p>
                      <a:pPr indent="0" lvl="0" marL="0" marR="0" rtl="0" algn="l">
                        <a:spcBef>
                          <a:spcPts val="0"/>
                        </a:spcBef>
                        <a:spcAft>
                          <a:spcPts val="0"/>
                        </a:spcAft>
                        <a:buNone/>
                      </a:pPr>
                      <a:r>
                        <a:rPr lang="en-US" sz="950" u="none" cap="none" strike="noStrike">
                          <a:solidFill>
                            <a:srgbClr val="1F2937"/>
                          </a:solidFill>
                        </a:rPr>
                        <a:t>Plagio algorítmico, venta de autoría (Resp. 6) y corrupción de Peer Review (Resp. 8).</a:t>
                      </a:r>
                      <a:endParaRPr/>
                    </a:p>
                  </a:txBody>
                  <a:tcPr marT="45725" marB="45725" marR="91450" marL="91450">
                    <a:solidFill>
                      <a:srgbClr val="F8FAF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p:nvPr/>
        </p:nvSpPr>
        <p:spPr>
          <a:xfrm>
            <a:off x="731520" y="411480"/>
            <a:ext cx="4114800" cy="320040"/>
          </a:xfrm>
          <a:prstGeom prst="roundRect">
            <a:avLst>
              <a:gd fmla="val 16667" name="adj"/>
            </a:avLst>
          </a:prstGeom>
          <a:solidFill>
            <a:srgbClr val="2B6CB0"/>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LECCIONES PARA POSGRADO</a:t>
            </a:r>
            <a:endParaRPr/>
          </a:p>
        </p:txBody>
      </p:sp>
      <p:sp>
        <p:nvSpPr>
          <p:cNvPr id="183" name="Google Shape;183;p10"/>
          <p:cNvSpPr txBox="1"/>
          <p:nvPr/>
        </p:nvSpPr>
        <p:spPr>
          <a:xfrm>
            <a:off x="731520" y="777240"/>
            <a:ext cx="1069848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365D"/>
                </a:solidFill>
                <a:latin typeface="Calibri"/>
                <a:ea typeface="Calibri"/>
                <a:cs typeface="Calibri"/>
                <a:sym typeface="Calibri"/>
              </a:rPr>
              <a:t>Conclusiones para la Investigación Aplicada en Informática</a:t>
            </a:r>
            <a:endParaRPr/>
          </a:p>
        </p:txBody>
      </p:sp>
      <p:sp>
        <p:nvSpPr>
          <p:cNvPr id="184" name="Google Shape;184;p10"/>
          <p:cNvSpPr/>
          <p:nvPr/>
        </p:nvSpPr>
        <p:spPr>
          <a:xfrm>
            <a:off x="731520" y="1645920"/>
            <a:ext cx="5120640" cy="4572000"/>
          </a:xfrm>
          <a:prstGeom prst="roundRect">
            <a:avLst>
              <a:gd fmla="val 16667" name="adj"/>
            </a:avLst>
          </a:prstGeom>
          <a:solidFill>
            <a:srgbClr val="F8FAFC"/>
          </a:solidFill>
          <a:ln cap="flat" cmpd="sng" w="19050">
            <a:solidFill>
              <a:srgbClr val="0D948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5" name="Google Shape;185;p10"/>
          <p:cNvSpPr txBox="1"/>
          <p:nvPr/>
        </p:nvSpPr>
        <p:spPr>
          <a:xfrm>
            <a:off x="960120" y="1828800"/>
            <a:ext cx="466344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Pilares Innegociables en Posgrado</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Datos y Código Abierto (Open Science): </a:t>
            </a:r>
            <a:r>
              <a:rPr b="0" i="0" lang="en-US" sz="1100" u="none" cap="none" strike="noStrike">
                <a:solidFill>
                  <a:srgbClr val="1F2937"/>
                </a:solidFill>
                <a:latin typeface="Calibri"/>
                <a:ea typeface="Calibri"/>
                <a:cs typeface="Calibri"/>
                <a:sym typeface="Calibri"/>
              </a:rPr>
              <a:t>La reproducibilidad exige repositorios abiertos. Decir 'perdí los datos' es confesión de mala praxis.</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Corresponsabilidad en Autoría: </a:t>
            </a:r>
            <a:r>
              <a:rPr b="0" i="0" lang="en-US" sz="1100" u="none" cap="none" strike="noStrike">
                <a:solidFill>
                  <a:srgbClr val="1F2937"/>
                </a:solidFill>
                <a:latin typeface="Calibri"/>
                <a:ea typeface="Calibri"/>
                <a:cs typeface="Calibri"/>
                <a:sym typeface="Calibri"/>
              </a:rPr>
              <a:t>No existe autoría honoraria inocua. Cada firmante responde penal, ética y académicamente por el paper.</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Revisión por Pares como Deber Moral: </a:t>
            </a:r>
            <a:r>
              <a:rPr b="0" i="0" lang="en-US" sz="1100" u="none" cap="none" strike="noStrike">
                <a:solidFill>
                  <a:srgbClr val="1F2937"/>
                </a:solidFill>
                <a:latin typeface="Calibri"/>
                <a:ea typeface="Calibri"/>
                <a:cs typeface="Calibri"/>
                <a:sym typeface="Calibri"/>
              </a:rPr>
              <a:t>Evaluar con rigor, sin delegar a bots ni incurrir en acuerdos recíprocos de aprobación complaciente.</a:t>
            </a:r>
            <a:endParaRPr/>
          </a:p>
        </p:txBody>
      </p:sp>
      <p:sp>
        <p:nvSpPr>
          <p:cNvPr id="186" name="Google Shape;186;p10"/>
          <p:cNvSpPr/>
          <p:nvPr/>
        </p:nvSpPr>
        <p:spPr>
          <a:xfrm>
            <a:off x="6217920" y="1645920"/>
            <a:ext cx="5212080" cy="4572000"/>
          </a:xfrm>
          <a:prstGeom prst="roundRect">
            <a:avLst>
              <a:gd fmla="val 16667" name="adj"/>
            </a:avLst>
          </a:prstGeom>
          <a:solidFill>
            <a:srgbClr val="F8FAFC"/>
          </a:solidFill>
          <a:ln cap="flat" cmpd="sng" w="19050">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7" name="Google Shape;187;p10"/>
          <p:cNvSpPr txBox="1"/>
          <p:nvPr/>
        </p:nvSpPr>
        <p:spPr>
          <a:xfrm>
            <a:off x="6446520" y="1828800"/>
            <a:ext cx="475488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A365D"/>
                </a:solidFill>
                <a:latin typeface="Calibri"/>
                <a:ea typeface="Calibri"/>
                <a:cs typeface="Calibri"/>
                <a:sym typeface="Calibri"/>
              </a:rPr>
              <a:t>Desafíos de la Era de la IA</a:t>
            </a:r>
            <a:endParaRPr/>
          </a:p>
          <a:p>
            <a:pPr indent="0" lvl="0" marL="0" marR="0" rtl="0" algn="l">
              <a:spcBef>
                <a:spcPts val="800"/>
              </a:spcBef>
              <a:spcAft>
                <a:spcPts val="0"/>
              </a:spcAft>
              <a:buNone/>
            </a:pPr>
            <a:r>
              <a:rPr b="1" i="0" lang="en-US" sz="1100" u="none" cap="none" strike="noStrike">
                <a:solidFill>
                  <a:srgbClr val="1F2937"/>
                </a:solidFill>
                <a:latin typeface="Calibri"/>
                <a:ea typeface="Calibri"/>
                <a:cs typeface="Calibri"/>
                <a:sym typeface="Calibri"/>
              </a:rPr>
              <a:t>• Uso Responsable de LLMs: </a:t>
            </a:r>
            <a:r>
              <a:rPr b="0" i="0" lang="en-US" sz="1100" u="none" cap="none" strike="noStrike">
                <a:solidFill>
                  <a:srgbClr val="1F2937"/>
                </a:solidFill>
                <a:latin typeface="Calibri"/>
                <a:ea typeface="Calibri"/>
                <a:cs typeface="Calibri"/>
                <a:sym typeface="Calibri"/>
              </a:rPr>
              <a:t>La IA generativa debe ser herramienta de asistencia, no generadora de pseudo-conocimiento.</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Vigilancia Comunitaria Activa: </a:t>
            </a:r>
            <a:r>
              <a:rPr b="0" i="0" lang="en-US" sz="1100" u="none" cap="none" strike="noStrike">
                <a:solidFill>
                  <a:srgbClr val="1F2937"/>
                </a:solidFill>
                <a:latin typeface="Calibri"/>
                <a:ea typeface="Calibri"/>
                <a:cs typeface="Calibri"/>
                <a:sym typeface="Calibri"/>
              </a:rPr>
              <a:t>El valor del escrutinio post-publicación en plataformas como PubPeer y Retraction Watch.</a:t>
            </a:r>
            <a:endParaRPr/>
          </a:p>
          <a:p>
            <a:pPr indent="0" lvl="0" marL="0" marR="0" rtl="0" algn="l">
              <a:spcBef>
                <a:spcPts val="400"/>
              </a:spcBef>
              <a:spcAft>
                <a:spcPts val="0"/>
              </a:spcAft>
              <a:buNone/>
            </a:pPr>
            <a:r>
              <a:rPr b="1" i="0" lang="en-US" sz="1100" u="none" cap="none" strike="noStrike">
                <a:solidFill>
                  <a:srgbClr val="1F2937"/>
                </a:solidFill>
                <a:latin typeface="Calibri"/>
                <a:ea typeface="Calibri"/>
                <a:cs typeface="Calibri"/>
                <a:sym typeface="Calibri"/>
              </a:rPr>
              <a:t>• Superar el 'Publish or Perish': </a:t>
            </a:r>
            <a:r>
              <a:rPr b="0" i="0" lang="en-US" sz="1100" u="none" cap="none" strike="noStrike">
                <a:solidFill>
                  <a:srgbClr val="1F2937"/>
                </a:solidFill>
                <a:latin typeface="Calibri"/>
                <a:ea typeface="Calibri"/>
                <a:cs typeface="Calibri"/>
                <a:sym typeface="Calibri"/>
              </a:rPr>
              <a:t>Priorizar el rigor metodológico y la solución real de problemas de ingeniería por sobre el conteo de papers.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1"/>
          <p:cNvSpPr/>
          <p:nvPr/>
        </p:nvSpPr>
        <p:spPr>
          <a:xfrm>
            <a:off x="0" y="0"/>
            <a:ext cx="12191695" cy="6858000"/>
          </a:xfrm>
          <a:prstGeom prst="rect">
            <a:avLst/>
          </a:prstGeom>
          <a:solidFill>
            <a:srgbClr val="1A365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4" name="Google Shape;194;p11"/>
          <p:cNvSpPr txBox="1"/>
          <p:nvPr/>
        </p:nvSpPr>
        <p:spPr>
          <a:xfrm>
            <a:off x="1371600" y="1188720"/>
            <a:ext cx="9418320" cy="6771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800" u="none" cap="none" strike="noStrike">
                <a:solidFill>
                  <a:srgbClr val="FFFFFF"/>
                </a:solidFill>
                <a:latin typeface="Calibri"/>
                <a:ea typeface="Calibri"/>
                <a:cs typeface="Calibri"/>
                <a:sym typeface="Calibri"/>
              </a:rPr>
              <a:t>¿PREGUNTAS Y COMENTARIOS?</a:t>
            </a:r>
            <a:endParaRPr/>
          </a:p>
        </p:txBody>
      </p:sp>
      <p:sp>
        <p:nvSpPr>
          <p:cNvPr id="195" name="Google Shape;195;p11"/>
          <p:cNvSpPr/>
          <p:nvPr/>
        </p:nvSpPr>
        <p:spPr>
          <a:xfrm>
            <a:off x="1371600" y="3291840"/>
            <a:ext cx="9418320" cy="2926080"/>
          </a:xfrm>
          <a:prstGeom prst="roundRect">
            <a:avLst>
              <a:gd fmla="val 16667" name="adj"/>
            </a:avLst>
          </a:prstGeom>
          <a:solidFill>
            <a:srgbClr val="1E406E"/>
          </a:solidFill>
          <a:ln cap="flat" cmpd="sng" w="9525">
            <a:solidFill>
              <a:srgbClr val="2B6CB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0D9488"/>
                </a:solidFill>
                <a:latin typeface="Calibri"/>
                <a:ea typeface="Calibri"/>
                <a:cs typeface="Calibri"/>
                <a:sym typeface="Calibri"/>
              </a:rPr>
              <a:t>FUENTES Y RECURSOS CONSULTADOS:</a:t>
            </a:r>
            <a:endParaRPr/>
          </a:p>
          <a:p>
            <a:pPr indent="0" lvl="0" marL="0" marR="0" rtl="0" algn="l">
              <a:spcBef>
                <a:spcPts val="0"/>
              </a:spcBef>
              <a:spcAft>
                <a:spcPts val="0"/>
              </a:spcAft>
              <a:buNone/>
            </a:pPr>
            <a:r>
              <a:rPr b="0" i="0" lang="en-US" sz="1050" u="none" cap="none" strike="noStrike">
                <a:solidFill>
                  <a:srgbClr val="FFFFFF"/>
                </a:solidFill>
                <a:latin typeface="Calibri"/>
                <a:ea typeface="Calibri"/>
                <a:cs typeface="Calibri"/>
                <a:sym typeface="Calibri"/>
              </a:rPr>
              <a:t>• National Academy of Sciences. On Being a Scientist (3rd ed.) - Caso Schön p. 35.</a:t>
            </a:r>
            <a:endParaRPr/>
          </a:p>
          <a:p>
            <a:pPr indent="0" lvl="0" marL="0" marR="0" rtl="0" algn="l">
              <a:spcBef>
                <a:spcPts val="0"/>
              </a:spcBef>
              <a:spcAft>
                <a:spcPts val="0"/>
              </a:spcAft>
              <a:buNone/>
            </a:pPr>
            <a:r>
              <a:rPr b="0" i="0" lang="en-US" sz="1050" u="none" cap="none" strike="noStrike">
                <a:solidFill>
                  <a:srgbClr val="FFFFFF"/>
                </a:solidFill>
                <a:latin typeface="Calibri"/>
                <a:ea typeface="Calibri"/>
                <a:cs typeface="Calibri"/>
                <a:sym typeface="Calibri"/>
              </a:rPr>
              <a:t>• World Conferences on Research Integrity. Declaración de Singapur sobre la Integridad en la Investigación (2010).</a:t>
            </a:r>
            <a:endParaRPr/>
          </a:p>
          <a:p>
            <a:pPr indent="0" lvl="0" marL="0" marR="0" rtl="0" algn="l">
              <a:spcBef>
                <a:spcPts val="0"/>
              </a:spcBef>
              <a:spcAft>
                <a:spcPts val="0"/>
              </a:spcAft>
              <a:buNone/>
            </a:pPr>
            <a:r>
              <a:rPr b="0" i="0" lang="en-US" sz="1050" u="none" cap="none" strike="noStrike">
                <a:solidFill>
                  <a:srgbClr val="FFFFFF"/>
                </a:solidFill>
                <a:latin typeface="Calibri"/>
                <a:ea typeface="Calibri"/>
                <a:cs typeface="Calibri"/>
                <a:sym typeface="Calibri"/>
              </a:rPr>
              <a:t>• Retraction Watch Database (retractionwatch.com) - Reportes de retracción ACM y Bell Labs.</a:t>
            </a:r>
            <a:endParaRPr/>
          </a:p>
          <a:p>
            <a:pPr indent="0" lvl="0" marL="0" marR="0" rtl="0" algn="l">
              <a:spcBef>
                <a:spcPts val="0"/>
              </a:spcBef>
              <a:spcAft>
                <a:spcPts val="0"/>
              </a:spcAft>
              <a:buNone/>
            </a:pPr>
            <a:r>
              <a:rPr b="0" i="0" lang="en-US" sz="1050" u="none" cap="none" strike="noStrike">
                <a:solidFill>
                  <a:srgbClr val="FFFFFF"/>
                </a:solidFill>
                <a:latin typeface="Calibri"/>
                <a:ea typeface="Calibri"/>
                <a:cs typeface="Calibri"/>
                <a:sym typeface="Calibri"/>
              </a:rPr>
              <a:t>• Cabanac, Labbé &amp; Magazinov (2021). 'Tortured phrases: A dubious writing style emerging in science'.</a:t>
            </a:r>
            <a:endParaRPr/>
          </a:p>
          <a:p>
            <a:pPr indent="0" lvl="0" marL="0" marR="0" rtl="0" algn="l">
              <a:spcBef>
                <a:spcPts val="0"/>
              </a:spcBef>
              <a:spcAft>
                <a:spcPts val="0"/>
              </a:spcAft>
              <a:buNone/>
            </a:pPr>
            <a:r>
              <a:rPr b="0" i="0" lang="en-US" sz="1050" u="none" cap="none" strike="noStrike">
                <a:solidFill>
                  <a:srgbClr val="FFFFFF"/>
                </a:solidFill>
                <a:latin typeface="Calibri"/>
                <a:ea typeface="Calibri"/>
                <a:cs typeface="Calibri"/>
                <a:sym typeface="Calibri"/>
              </a:rPr>
              <a:t>• Beall's List of Potential Predatory Journals and Publishers (beallslist.net).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