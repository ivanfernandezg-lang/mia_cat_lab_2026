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Shape 5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Shape 63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6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Shape 6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Shape 7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Shape 8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Shape 8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Shape 93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Shape 9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">
  <p:cSld name="Title slid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 algn="ctr">
              <a:spcBef>
                <a:spcPts val="0"/>
              </a:spcBef>
              <a:buSzPct val="100000"/>
              <a:defRPr sz="5200"/>
            </a:lvl1pPr>
            <a:lvl2pPr lvl="1" algn="ctr">
              <a:spcBef>
                <a:spcPts val="0"/>
              </a:spcBef>
              <a:buSzPct val="100000"/>
              <a:defRPr sz="5200"/>
            </a:lvl2pPr>
            <a:lvl3pPr lvl="2" algn="ctr">
              <a:spcBef>
                <a:spcPts val="0"/>
              </a:spcBef>
              <a:buSzPct val="100000"/>
              <a:defRPr sz="5200"/>
            </a:lvl3pPr>
            <a:lvl4pPr lvl="3" algn="ctr">
              <a:spcBef>
                <a:spcPts val="0"/>
              </a:spcBef>
              <a:buSzPct val="100000"/>
              <a:defRPr sz="5200"/>
            </a:lvl4pPr>
            <a:lvl5pPr lvl="4" algn="ctr">
              <a:spcBef>
                <a:spcPts val="0"/>
              </a:spcBef>
              <a:buSzPct val="100000"/>
              <a:defRPr sz="5200"/>
            </a:lvl5pPr>
            <a:lvl6pPr lvl="5" algn="ctr">
              <a:spcBef>
                <a:spcPts val="0"/>
              </a:spcBef>
              <a:buSzPct val="100000"/>
              <a:defRPr sz="5200"/>
            </a:lvl6pPr>
            <a:lvl7pPr lvl="6" algn="ctr">
              <a:spcBef>
                <a:spcPts val="0"/>
              </a:spcBef>
              <a:buSzPct val="100000"/>
              <a:defRPr sz="5200"/>
            </a:lvl7pPr>
            <a:lvl8pPr lvl="7" algn="ctr">
              <a:spcBef>
                <a:spcPts val="0"/>
              </a:spcBef>
              <a:buSzPct val="100000"/>
              <a:defRPr sz="5200"/>
            </a:lvl8pPr>
            <a:lvl9pPr lvl="8" algn="ctr">
              <a:spcBef>
                <a:spcPts val="0"/>
              </a:spcBef>
              <a:buSzPct val="100000"/>
              <a:defRPr sz="5200"/>
            </a:lvl9pPr>
          </a:lstStyle>
          <a:p/>
        </p:txBody>
      </p:sp>
      <p:sp>
        <p:nvSpPr>
          <p:cNvPr id="11" name="Shape 1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9pPr>
          </a:lstStyle>
          <a:p/>
        </p:txBody>
      </p:sp>
      <p:sp>
        <p:nvSpPr>
          <p:cNvPr id="12" name="Shape 12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s"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secHead">
  <p:cSld name="Section 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rIns="91425" tIns="91425"/>
          <a:lstStyle>
            <a:lvl1pPr lvl="0" algn="ctr">
              <a:spcBef>
                <a:spcPts val="0"/>
              </a:spcBef>
              <a:buSzPct val="100000"/>
              <a:defRPr sz="3600"/>
            </a:lvl1pPr>
            <a:lvl2pPr lvl="1" algn="ctr">
              <a:spcBef>
                <a:spcPts val="0"/>
              </a:spcBef>
              <a:buSzPct val="100000"/>
              <a:defRPr sz="3600"/>
            </a:lvl2pPr>
            <a:lvl3pPr lvl="2" algn="ctr">
              <a:spcBef>
                <a:spcPts val="0"/>
              </a:spcBef>
              <a:buSzPct val="100000"/>
              <a:defRPr sz="3600"/>
            </a:lvl3pPr>
            <a:lvl4pPr lvl="3" algn="ctr">
              <a:spcBef>
                <a:spcPts val="0"/>
              </a:spcBef>
              <a:buSzPct val="100000"/>
              <a:defRPr sz="3600"/>
            </a:lvl4pPr>
            <a:lvl5pPr lvl="4" algn="ctr">
              <a:spcBef>
                <a:spcPts val="0"/>
              </a:spcBef>
              <a:buSzPct val="100000"/>
              <a:defRPr sz="3600"/>
            </a:lvl5pPr>
            <a:lvl6pPr lvl="5" algn="ctr">
              <a:spcBef>
                <a:spcPts val="0"/>
              </a:spcBef>
              <a:buSzPct val="100000"/>
              <a:defRPr sz="3600"/>
            </a:lvl6pPr>
            <a:lvl7pPr lvl="6" algn="ctr">
              <a:spcBef>
                <a:spcPts val="0"/>
              </a:spcBef>
              <a:buSzPct val="100000"/>
              <a:defRPr sz="3600"/>
            </a:lvl7pPr>
            <a:lvl8pPr lvl="7" algn="ctr">
              <a:spcBef>
                <a:spcPts val="0"/>
              </a:spcBef>
              <a:buSzPct val="100000"/>
              <a:defRPr sz="3600"/>
            </a:lvl8pPr>
            <a:lvl9pPr lvl="8" algn="ctr">
              <a:spcBef>
                <a:spcPts val="0"/>
              </a:spcBef>
              <a:buSzPct val="100000"/>
              <a:defRPr sz="3600"/>
            </a:lvl9pPr>
          </a:lstStyle>
          <a:p/>
        </p:txBody>
      </p:sp>
      <p:sp>
        <p:nvSpPr>
          <p:cNvPr id="15" name="Shape 15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s"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x">
  <p:cSld name="Title and 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18" name="Shape 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19" name="Shape 19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s"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ColTx">
  <p:cSld name="Title and two 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22" name="Shape 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/>
        </p:txBody>
      </p:sp>
      <p:sp>
        <p:nvSpPr>
          <p:cNvPr id="23" name="Shape 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/>
        </p:txBody>
      </p:sp>
      <p:sp>
        <p:nvSpPr>
          <p:cNvPr id="24" name="Shape 24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s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Only">
  <p:cSld name="Title 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27" name="Shape 27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s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One column 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>
              <a:spcBef>
                <a:spcPts val="0"/>
              </a:spcBef>
              <a:buSzPct val="100000"/>
              <a:defRPr sz="2400"/>
            </a:lvl1pPr>
            <a:lvl2pPr lvl="1">
              <a:spcBef>
                <a:spcPts val="0"/>
              </a:spcBef>
              <a:buSzPct val="100000"/>
              <a:defRPr sz="2400"/>
            </a:lvl2pPr>
            <a:lvl3pPr lvl="2">
              <a:spcBef>
                <a:spcPts val="0"/>
              </a:spcBef>
              <a:buSzPct val="100000"/>
              <a:defRPr sz="2400"/>
            </a:lvl3pPr>
            <a:lvl4pPr lvl="3">
              <a:spcBef>
                <a:spcPts val="0"/>
              </a:spcBef>
              <a:buSzPct val="100000"/>
              <a:defRPr sz="2400"/>
            </a:lvl4pPr>
            <a:lvl5pPr lvl="4">
              <a:spcBef>
                <a:spcPts val="0"/>
              </a:spcBef>
              <a:buSzPct val="100000"/>
              <a:defRPr sz="2400"/>
            </a:lvl5pPr>
            <a:lvl6pPr lvl="5">
              <a:spcBef>
                <a:spcPts val="0"/>
              </a:spcBef>
              <a:buSzPct val="100000"/>
              <a:defRPr sz="2400"/>
            </a:lvl6pPr>
            <a:lvl7pPr lvl="6">
              <a:spcBef>
                <a:spcPts val="0"/>
              </a:spcBef>
              <a:buSzPct val="100000"/>
              <a:defRPr sz="2400"/>
            </a:lvl7pPr>
            <a:lvl8pPr lvl="7">
              <a:spcBef>
                <a:spcPts val="0"/>
              </a:spcBef>
              <a:buSzPct val="100000"/>
              <a:defRPr sz="2400"/>
            </a:lvl8pPr>
            <a:lvl9pPr lvl="8">
              <a:spcBef>
                <a:spcPts val="0"/>
              </a:spcBef>
              <a:buSzPct val="100000"/>
              <a:defRPr sz="2400"/>
            </a:lvl9pPr>
          </a:lstStyle>
          <a:p/>
        </p:txBody>
      </p:sp>
      <p:sp>
        <p:nvSpPr>
          <p:cNvPr id="30" name="Shape 3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SzPct val="100000"/>
              <a:defRPr sz="12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/>
        </p:txBody>
      </p:sp>
      <p:sp>
        <p:nvSpPr>
          <p:cNvPr id="31" name="Shape 31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s"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Main 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rIns="91425" tIns="91425"/>
          <a:lstStyle>
            <a:lvl1pPr lvl="0">
              <a:spcBef>
                <a:spcPts val="0"/>
              </a:spcBef>
              <a:buSzPct val="100000"/>
              <a:defRPr sz="4800"/>
            </a:lvl1pPr>
            <a:lvl2pPr lvl="1">
              <a:spcBef>
                <a:spcPts val="0"/>
              </a:spcBef>
              <a:buSzPct val="100000"/>
              <a:defRPr sz="4800"/>
            </a:lvl2pPr>
            <a:lvl3pPr lvl="2">
              <a:spcBef>
                <a:spcPts val="0"/>
              </a:spcBef>
              <a:buSzPct val="100000"/>
              <a:defRPr sz="4800"/>
            </a:lvl3pPr>
            <a:lvl4pPr lvl="3">
              <a:spcBef>
                <a:spcPts val="0"/>
              </a:spcBef>
              <a:buSzPct val="100000"/>
              <a:defRPr sz="4800"/>
            </a:lvl4pPr>
            <a:lvl5pPr lvl="4">
              <a:spcBef>
                <a:spcPts val="0"/>
              </a:spcBef>
              <a:buSzPct val="100000"/>
              <a:defRPr sz="4800"/>
            </a:lvl5pPr>
            <a:lvl6pPr lvl="5">
              <a:spcBef>
                <a:spcPts val="0"/>
              </a:spcBef>
              <a:buSzPct val="100000"/>
              <a:defRPr sz="4800"/>
            </a:lvl6pPr>
            <a:lvl7pPr lvl="6">
              <a:spcBef>
                <a:spcPts val="0"/>
              </a:spcBef>
              <a:buSzPct val="100000"/>
              <a:defRPr sz="4800"/>
            </a:lvl7pPr>
            <a:lvl8pPr lvl="7">
              <a:spcBef>
                <a:spcPts val="0"/>
              </a:spcBef>
              <a:buSzPct val="100000"/>
              <a:defRPr sz="4800"/>
            </a:lvl8pPr>
            <a:lvl9pPr lvl="8">
              <a:spcBef>
                <a:spcPts val="0"/>
              </a:spcBef>
              <a:buSzPct val="100000"/>
              <a:defRPr sz="4800"/>
            </a:lvl9pPr>
          </a:lstStyle>
          <a:p/>
        </p:txBody>
      </p:sp>
      <p:sp>
        <p:nvSpPr>
          <p:cNvPr id="34" name="Shape 34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s"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Section title and 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7" name="Shape 3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 algn="ctr">
              <a:spcBef>
                <a:spcPts val="0"/>
              </a:spcBef>
              <a:buSzPct val="100000"/>
              <a:defRPr sz="4200"/>
            </a:lvl1pPr>
            <a:lvl2pPr lvl="1" algn="ctr">
              <a:spcBef>
                <a:spcPts val="0"/>
              </a:spcBef>
              <a:buSzPct val="100000"/>
              <a:defRPr sz="4200"/>
            </a:lvl2pPr>
            <a:lvl3pPr lvl="2" algn="ctr">
              <a:spcBef>
                <a:spcPts val="0"/>
              </a:spcBef>
              <a:buSzPct val="100000"/>
              <a:defRPr sz="4200"/>
            </a:lvl3pPr>
            <a:lvl4pPr lvl="3" algn="ctr">
              <a:spcBef>
                <a:spcPts val="0"/>
              </a:spcBef>
              <a:buSzPct val="100000"/>
              <a:defRPr sz="4200"/>
            </a:lvl4pPr>
            <a:lvl5pPr lvl="4" algn="ctr">
              <a:spcBef>
                <a:spcPts val="0"/>
              </a:spcBef>
              <a:buSzPct val="100000"/>
              <a:defRPr sz="4200"/>
            </a:lvl5pPr>
            <a:lvl6pPr lvl="5" algn="ctr">
              <a:spcBef>
                <a:spcPts val="0"/>
              </a:spcBef>
              <a:buSzPct val="100000"/>
              <a:defRPr sz="4200"/>
            </a:lvl6pPr>
            <a:lvl7pPr lvl="6" algn="ctr">
              <a:spcBef>
                <a:spcPts val="0"/>
              </a:spcBef>
              <a:buSzPct val="100000"/>
              <a:defRPr sz="4200"/>
            </a:lvl7pPr>
            <a:lvl8pPr lvl="7" algn="ctr">
              <a:spcBef>
                <a:spcPts val="0"/>
              </a:spcBef>
              <a:buSzPct val="100000"/>
              <a:defRPr sz="4200"/>
            </a:lvl8pPr>
            <a:lvl9pPr lvl="8" algn="ctr">
              <a:spcBef>
                <a:spcPts val="0"/>
              </a:spcBef>
              <a:buSzPct val="100000"/>
              <a:defRPr sz="4200"/>
            </a:lvl9pPr>
          </a:lstStyle>
          <a:p/>
        </p:txBody>
      </p:sp>
      <p:sp>
        <p:nvSpPr>
          <p:cNvPr id="38" name="Shape 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9pPr>
          </a:lstStyle>
          <a:p/>
        </p:txBody>
      </p:sp>
      <p:sp>
        <p:nvSpPr>
          <p:cNvPr id="39" name="Shape 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40" name="Shape 40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s"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Ca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rIns="91425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/>
        </p:txBody>
      </p:sp>
      <p:sp>
        <p:nvSpPr>
          <p:cNvPr id="43" name="Shape 43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s"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Big 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 algn="ctr">
              <a:spcBef>
                <a:spcPts val="0"/>
              </a:spcBef>
              <a:buSzPct val="100000"/>
              <a:defRPr sz="12000"/>
            </a:lvl1pPr>
            <a:lvl2pPr lvl="1" algn="ctr">
              <a:spcBef>
                <a:spcPts val="0"/>
              </a:spcBef>
              <a:buSzPct val="100000"/>
              <a:defRPr sz="12000"/>
            </a:lvl2pPr>
            <a:lvl3pPr lvl="2" algn="ctr">
              <a:spcBef>
                <a:spcPts val="0"/>
              </a:spcBef>
              <a:buSzPct val="100000"/>
              <a:defRPr sz="12000"/>
            </a:lvl3pPr>
            <a:lvl4pPr lvl="3" algn="ctr">
              <a:spcBef>
                <a:spcPts val="0"/>
              </a:spcBef>
              <a:buSzPct val="100000"/>
              <a:defRPr sz="12000"/>
            </a:lvl4pPr>
            <a:lvl5pPr lvl="4" algn="ctr">
              <a:spcBef>
                <a:spcPts val="0"/>
              </a:spcBef>
              <a:buSzPct val="100000"/>
              <a:defRPr sz="12000"/>
            </a:lvl5pPr>
            <a:lvl6pPr lvl="5" algn="ctr">
              <a:spcBef>
                <a:spcPts val="0"/>
              </a:spcBef>
              <a:buSzPct val="100000"/>
              <a:defRPr sz="12000"/>
            </a:lvl6pPr>
            <a:lvl7pPr lvl="6" algn="ctr">
              <a:spcBef>
                <a:spcPts val="0"/>
              </a:spcBef>
              <a:buSzPct val="100000"/>
              <a:defRPr sz="12000"/>
            </a:lvl7pPr>
            <a:lvl8pPr lvl="7" algn="ctr">
              <a:spcBef>
                <a:spcPts val="0"/>
              </a:spcBef>
              <a:buSzPct val="100000"/>
              <a:defRPr sz="12000"/>
            </a:lvl8pPr>
            <a:lvl9pPr lvl="8" algn="ctr">
              <a:spcBef>
                <a:spcPts val="0"/>
              </a:spcBef>
              <a:buSzPct val="100000"/>
              <a:defRPr sz="12000"/>
            </a:lvl9pPr>
          </a:lstStyle>
          <a:p/>
        </p:txBody>
      </p:sp>
      <p:sp>
        <p:nvSpPr>
          <p:cNvPr id="46" name="Shape 4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 algn="ctr">
              <a:spcBef>
                <a:spcPts val="0"/>
              </a:spcBef>
              <a:defRPr/>
            </a:lvl1pPr>
            <a:lvl2pPr lvl="1" algn="ctr">
              <a:spcBef>
                <a:spcPts val="0"/>
              </a:spcBef>
              <a:defRPr/>
            </a:lvl2pPr>
            <a:lvl3pPr lvl="2" algn="ctr">
              <a:spcBef>
                <a:spcPts val="0"/>
              </a:spcBef>
              <a:defRPr/>
            </a:lvl3pPr>
            <a:lvl4pPr lvl="3" algn="ctr">
              <a:spcBef>
                <a:spcPts val="0"/>
              </a:spcBef>
              <a:defRPr/>
            </a:lvl4pPr>
            <a:lvl5pPr lvl="4" algn="ctr">
              <a:spcBef>
                <a:spcPts val="0"/>
              </a:spcBef>
              <a:defRPr/>
            </a:lvl5pPr>
            <a:lvl6pPr lvl="5" algn="ctr">
              <a:spcBef>
                <a:spcPts val="0"/>
              </a:spcBef>
              <a:defRPr/>
            </a:lvl6pPr>
            <a:lvl7pPr lvl="6" algn="ctr">
              <a:spcBef>
                <a:spcPts val="0"/>
              </a:spcBef>
              <a:defRPr/>
            </a:lvl7pPr>
            <a:lvl8pPr lvl="7" algn="ctr">
              <a:spcBef>
                <a:spcPts val="0"/>
              </a:spcBef>
              <a:defRPr/>
            </a:lvl8pPr>
            <a:lvl9pPr lvl="8" algn="ctr">
              <a:spcBef>
                <a:spcPts val="0"/>
              </a:spcBef>
              <a:defRPr/>
            </a:lvl9pPr>
          </a:lstStyle>
          <a:p/>
        </p:txBody>
      </p:sp>
      <p:sp>
        <p:nvSpPr>
          <p:cNvPr id="47" name="Shape 47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s"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s"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Shape 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defRPr sz="18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 algn="r">
              <a:spcBef>
                <a:spcPts val="0"/>
              </a:spcBef>
              <a:buNone/>
            </a:pPr>
            <a:fld id="{00000000-1234-1234-1234-123412341234}" type="slidenum">
              <a:rPr lang="es" sz="1000">
                <a:solidFill>
                  <a:schemeClr val="dk2"/>
                </a:solidFill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/>
          <p:nvPr/>
        </p:nvSpPr>
        <p:spPr>
          <a:xfrm>
            <a:off x="1918325" y="4256775"/>
            <a:ext cx="5091300" cy="88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 rtl="0" algn="ctr">
              <a:spcBef>
                <a:spcPts val="0"/>
              </a:spcBef>
              <a:buNone/>
            </a:pPr>
            <a:r>
              <a:rPr lang="es">
                <a:solidFill>
                  <a:srgbClr val="595959"/>
                </a:solidFill>
              </a:rPr>
              <a:t>Roberto González-Ibáñez</a:t>
            </a:r>
          </a:p>
        </p:txBody>
      </p:sp>
      <p:sp>
        <p:nvSpPr>
          <p:cNvPr id="55" name="Shape 5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s"/>
              <a:t>Lectura Crítica</a:t>
            </a:r>
          </a:p>
          <a:p>
            <a:pPr lvl="0">
              <a:spcBef>
                <a:spcPts val="0"/>
              </a:spcBef>
              <a:buNone/>
            </a:pPr>
            <a:r>
              <a:rPr lang="es" sz="1800"/>
              <a:t>Algunos Tips</a:t>
            </a:r>
          </a:p>
        </p:txBody>
      </p:sp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s"/>
              <a:t>¿Qué entienden por lectura Crítica?</a:t>
            </a:r>
          </a:p>
        </p:txBody>
      </p:sp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eriod"/>
            </a:pPr>
            <a:r>
              <a:rPr lang="e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Evolución desde la escritura en piedra a medios electrónicos</a:t>
            </a: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eriod"/>
            </a:pPr>
            <a:r>
              <a:rPr lang="e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es lo mismo que lectura recreativa (ej: una novela)</a:t>
            </a: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eriod"/>
            </a:pPr>
            <a:r>
              <a:rPr lang="e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Una lectura detallada, cuidadosa, análitica</a:t>
            </a:r>
          </a:p>
          <a:p>
            <a:pPr lv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66" name="Shape 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s"/>
              <a:t>Lectura crítica</a:t>
            </a:r>
          </a:p>
        </p:txBody>
      </p:sp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eriod"/>
            </a:pPr>
            <a:r>
              <a:rPr lang="e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Faith (Autoridades, juicios democráticos)</a:t>
            </a: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eriod"/>
            </a:pPr>
            <a:r>
              <a:rPr lang="e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Reason (Logic, Math)</a:t>
            </a: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eriod"/>
            </a:pPr>
            <a:r>
              <a:rPr lang="e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Feeling (“Lo siento en mi corazón, en mis entrañas”)</a:t>
            </a: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eriod"/>
            </a:pPr>
            <a:r>
              <a:rPr lang="e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Sensory information &amp; experience (“Yo lo vi, o yo lo viví”)</a:t>
            </a: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eriod"/>
            </a:pPr>
            <a:r>
              <a:rPr lang="e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Legal methods (Mezcla de los anteriores)</a:t>
            </a: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eriod"/>
            </a:pPr>
            <a:r>
              <a:rPr lang="e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Empirical/Experimental research (observaciones sistemáticas y objetivas. Ej: enfoques cualitativos, cuantitativos y mixtos)</a:t>
            </a:r>
          </a:p>
          <a:p>
            <a:pPr lv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72" name="Shape 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s"/>
              <a:t>¿Cómo buscamos la “Verdad”?</a:t>
            </a:r>
          </a:p>
        </p:txBody>
      </p:sp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7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eriod"/>
            </a:pPr>
            <a:r>
              <a:rPr lang="e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¿Cumple con los estándares? (ej: pruebas, evidencia)</a:t>
            </a: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eriod"/>
            </a:pPr>
            <a:r>
              <a:rPr lang="e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Solidez científica</a:t>
            </a: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eriod"/>
            </a:pPr>
            <a:r>
              <a:rPr lang="e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Escepticismo</a:t>
            </a: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eriod"/>
            </a:pPr>
            <a:r>
              <a:rPr lang="e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Actitud del tipo “demuestrame” “convenceme”</a:t>
            </a: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eriod"/>
            </a:pPr>
            <a:r>
              <a:rPr lang="e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Leer de forma cuidadosa</a:t>
            </a: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eriod"/>
            </a:pPr>
            <a:r>
              <a:rPr lang="e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Leer/comprender antes de usar los resultados de la investigación</a:t>
            </a: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eriod"/>
            </a:pPr>
            <a:r>
              <a:rPr lang="e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Leer de forma activa (no pasiva-receptiva)</a:t>
            </a:r>
          </a:p>
          <a:p>
            <a:pPr lv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78" name="Shape 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s"/>
              <a:t>¿Cómo leer de forma crítica?</a:t>
            </a:r>
          </a:p>
        </p:txBody>
      </p:sp>
    </p:spTree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 literatura señala ....</a:t>
            </a:r>
          </a:p>
          <a:p>
            <a:pPr lv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Según Pérez (2009) …</a:t>
            </a:r>
          </a:p>
          <a:p>
            <a:pPr lv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 resultados indican que (Ref)</a:t>
            </a:r>
          </a:p>
          <a:p>
            <a:pPr lv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Caso Losada …</a:t>
            </a:r>
          </a:p>
          <a:p>
            <a:pPr lv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Positivity</a:t>
            </a:r>
          </a:p>
          <a:p>
            <a:pPr lv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84" name="Shape 8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s"/>
              <a:t>Consecuencias de una falta en la lectura crítica</a:t>
            </a:r>
          </a:p>
        </p:txBody>
      </p:sp>
    </p:spTree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eriod"/>
            </a:pPr>
            <a:r>
              <a:rPr lang="e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Velocidad</a:t>
            </a: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eriod"/>
            </a:pPr>
            <a:r>
              <a:rPr lang="e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Comprensión</a:t>
            </a: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eriod"/>
            </a:pPr>
            <a:r>
              <a:rPr lang="e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Lectura crítica</a:t>
            </a: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eriod"/>
            </a:pPr>
            <a:r>
              <a:rPr lang="e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Retención</a:t>
            </a: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eriod"/>
            </a:pPr>
            <a:r>
              <a:rPr lang="e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Cantidad de lectura</a:t>
            </a: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eriod"/>
            </a:pPr>
            <a:r>
              <a:rPr lang="e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Foco y concentración</a:t>
            </a:r>
          </a:p>
          <a:p>
            <a:pPr lv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90" name="Shape 9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s"/>
              <a:t>Problemas en la lectura</a:t>
            </a:r>
          </a:p>
        </p:txBody>
      </p:sp>
    </p:spTree>
  </p:cSld>
  <p:clrMapOvr>
    <a:masterClrMapping/>
  </p:clrMapOvr>
  <p:transition spd="slow">
    <p:cut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eriod"/>
            </a:pPr>
            <a:r>
              <a:rPr lang="e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Velocidad</a:t>
            </a: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eriod"/>
            </a:pPr>
            <a:r>
              <a:rPr lang="e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Comprensión</a:t>
            </a: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eriod"/>
            </a:pPr>
            <a:r>
              <a:rPr lang="e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Lectura crítica</a:t>
            </a: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eriod"/>
            </a:pPr>
            <a:r>
              <a:rPr lang="e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Retención</a:t>
            </a: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eriod"/>
            </a:pPr>
            <a:r>
              <a:rPr lang="e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Cantidad de lectura</a:t>
            </a: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eriod"/>
            </a:pPr>
            <a:r>
              <a:rPr lang="e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Foco y concentración</a:t>
            </a:r>
          </a:p>
          <a:p>
            <a:pPr lv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96" name="Shape 9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s"/>
              <a:t>Problemas en la lectura</a:t>
            </a:r>
          </a:p>
        </p:txBody>
      </p:sp>
    </p:spTree>
  </p:cSld>
  <p:clrMapOvr>
    <a:masterClrMapping/>
  </p:clrMapOvr>
  <p:transition spd="slow">
    <p:cut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</a:rPr>
              <a:t>Para cada artículo revisado deben responder las siguientes preguntas/puntos: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s" sz="1400">
                <a:solidFill>
                  <a:schemeClr val="dk1"/>
                </a:solidFill>
              </a:rPr>
              <a:t>¿De qué trata el documento?</a:t>
            </a:r>
          </a:p>
          <a:p>
            <a: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s" sz="1400">
                <a:solidFill>
                  <a:schemeClr val="dk1"/>
                </a:solidFill>
              </a:rPr>
              <a:t>¿Qué conceptos nuevos para mi y su definición se presentan en el documento?</a:t>
            </a:r>
          </a:p>
          <a:p>
            <a: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s" sz="1400">
                <a:solidFill>
                  <a:schemeClr val="dk1"/>
                </a:solidFill>
              </a:rPr>
              <a:t>¿De que tratan los tópicos y subtópicos tratados en el documento?</a:t>
            </a:r>
          </a:p>
          <a:p>
            <a: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s" sz="1400">
                <a:solidFill>
                  <a:schemeClr val="dk1"/>
                </a:solidFill>
              </a:rPr>
              <a:t>¿Cuáles son las conclusiones y/o resultados alcanzados en el trabajo?</a:t>
            </a:r>
          </a:p>
          <a:p>
            <a: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s" sz="1400">
                <a:solidFill>
                  <a:schemeClr val="dk1"/>
                </a:solidFill>
              </a:rPr>
              <a:t>Críticas y Preguntas</a:t>
            </a:r>
          </a:p>
          <a:p>
            <a: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s" sz="1400">
                <a:solidFill>
                  <a:schemeClr val="dk1"/>
                </a:solidFill>
              </a:rPr>
              <a:t>Trabajo relacionado (al menos 1 paper de su elección en Inglés o Español, el cual también deben leerlo de forma crítica y realizar este mismo análisis entre los puntos 1 al 5)</a:t>
            </a:r>
          </a:p>
          <a:p>
            <a:pPr lv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02" name="Shape 10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s"/>
              <a:t>Contextualizando Critical Reading en el curso</a:t>
            </a:r>
          </a:p>
        </p:txBody>
      </p:sp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xmlns:r="http://schemas.openxmlformats.org/officeDocument/2006/relationships" name="simple-light-2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