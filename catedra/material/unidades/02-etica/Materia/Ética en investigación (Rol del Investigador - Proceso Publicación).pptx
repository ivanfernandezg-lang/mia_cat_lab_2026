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4c52e0f64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4c52e0f64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37fc8ae0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37fc8ae0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37fc8ae0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37fc8ae0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37fc8ae0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37fc8ae0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37fc8ae0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37fc8ae0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37fc8ae00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37fc8ae0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37fc8ae0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37fc8ae0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37fc8ae00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37fc8ae0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37fc8ae00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37fc8ae00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37fc8ae00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37fc8ae00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37fc8ae0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37fc8ae0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37fc8ae0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37fc8ae0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37fc8ae0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37fc8ae0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37fc8ae0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37fc8ae0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37fc8ae00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37fc8ae00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37fc8ae00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37fc8ae00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37fc8ae00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37fc8ae00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37fc8ae0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37fc8ae0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37fc8ae00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37fc8ae00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37fc8ae00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37fc8ae00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37fc8ae00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37fc8ae00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37fc8ae00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37fc8ae00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37fc8ae00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37fc8ae00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37fc8ae00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37fc8ae00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37fc8ae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37fc8ae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37fc8ae00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37fc8ae00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37fc8ae0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37fc8ae0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ignorelimits.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
              <a:t>Ética en investigación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a:t>Basado en la Presentación de Prashant V. Kamat y la guía Ethics in Research &amp; Publication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Aspectos a cubrir</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Autoría</a:t>
            </a:r>
            <a:endParaRPr/>
          </a:p>
          <a:p>
            <a:pPr indent="0" lvl="0" marL="0" rtl="0" algn="l">
              <a:spcBef>
                <a:spcPts val="1600"/>
              </a:spcBef>
              <a:spcAft>
                <a:spcPts val="0"/>
              </a:spcAft>
              <a:buNone/>
            </a:pPr>
            <a:r>
              <a:rPr lang="es"/>
              <a:t>Plagio</a:t>
            </a:r>
            <a:endParaRPr/>
          </a:p>
          <a:p>
            <a:pPr indent="0" lvl="0" marL="0" rtl="0" algn="l">
              <a:spcBef>
                <a:spcPts val="1600"/>
              </a:spcBef>
              <a:spcAft>
                <a:spcPts val="0"/>
              </a:spcAft>
              <a:buClr>
                <a:schemeClr val="dk1"/>
              </a:buClr>
              <a:buSzPts val="1100"/>
              <a:buFont typeface="Arial"/>
              <a:buNone/>
            </a:pPr>
            <a:r>
              <a:rPr lang="es"/>
              <a:t>Conflictos de Interés</a:t>
            </a:r>
            <a:endParaRPr/>
          </a:p>
          <a:p>
            <a:pPr indent="0" lvl="0" marL="0" rtl="0" algn="l">
              <a:spcBef>
                <a:spcPts val="1600"/>
              </a:spcBef>
              <a:spcAft>
                <a:spcPts val="0"/>
              </a:spcAft>
              <a:buNone/>
            </a:pPr>
            <a:r>
              <a:rPr lang="es"/>
              <a:t>Sometimiento s</a:t>
            </a:r>
            <a:r>
              <a:rPr lang="es"/>
              <a:t>imultáneo de publicaciones</a:t>
            </a:r>
            <a:endParaRPr/>
          </a:p>
          <a:p>
            <a:pPr indent="0" lvl="0" marL="0" rtl="0" algn="l">
              <a:spcBef>
                <a:spcPts val="1600"/>
              </a:spcBef>
              <a:spcAft>
                <a:spcPts val="1600"/>
              </a:spcAft>
              <a:buNone/>
            </a:pPr>
            <a:r>
              <a:rPr lang="es"/>
              <a:t>Fraude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Decisiones éticas … ¿Cómo las aprendemos?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Familia</a:t>
            </a:r>
            <a:endParaRPr/>
          </a:p>
          <a:p>
            <a:pPr indent="-342900" lvl="0" marL="457200" rtl="0" algn="l">
              <a:spcBef>
                <a:spcPts val="0"/>
              </a:spcBef>
              <a:spcAft>
                <a:spcPts val="0"/>
              </a:spcAft>
              <a:buSzPts val="1800"/>
              <a:buAutoNum type="arabicPeriod"/>
            </a:pPr>
            <a:r>
              <a:rPr lang="es"/>
              <a:t>Escuela</a:t>
            </a:r>
            <a:endParaRPr/>
          </a:p>
          <a:p>
            <a:pPr indent="-342900" lvl="0" marL="457200" rtl="0" algn="l">
              <a:spcBef>
                <a:spcPts val="0"/>
              </a:spcBef>
              <a:spcAft>
                <a:spcPts val="0"/>
              </a:spcAft>
              <a:buSzPts val="1800"/>
              <a:buAutoNum type="arabicPeriod"/>
            </a:pPr>
            <a:r>
              <a:rPr lang="es"/>
              <a:t>Mentor</a:t>
            </a:r>
            <a:endParaRPr/>
          </a:p>
          <a:p>
            <a:pPr indent="-342900" lvl="0" marL="457200" rtl="0" algn="l">
              <a:spcBef>
                <a:spcPts val="0"/>
              </a:spcBef>
              <a:spcAft>
                <a:spcPts val="0"/>
              </a:spcAft>
              <a:buSzPts val="1800"/>
              <a:buAutoNum type="arabicPeriod"/>
            </a:pPr>
            <a:r>
              <a:rPr lang="es"/>
              <a:t>Amigos</a:t>
            </a:r>
            <a:endParaRPr/>
          </a:p>
          <a:p>
            <a:pPr indent="-342900" lvl="0" marL="457200" rtl="0" algn="l">
              <a:spcBef>
                <a:spcPts val="0"/>
              </a:spcBef>
              <a:spcAft>
                <a:spcPts val="0"/>
              </a:spcAft>
              <a:buSzPts val="1800"/>
              <a:buAutoNum type="arabicPeriod"/>
            </a:pPr>
            <a:r>
              <a:rPr lang="es"/>
              <a:t>Profesores</a:t>
            </a:r>
            <a:endParaRPr/>
          </a:p>
          <a:p>
            <a:pPr indent="-342900" lvl="0" marL="457200" rtl="0" algn="l">
              <a:spcBef>
                <a:spcPts val="0"/>
              </a:spcBef>
              <a:spcAft>
                <a:spcPts val="0"/>
              </a:spcAft>
              <a:buSzPts val="1800"/>
              <a:buAutoNum type="arabicPeriod"/>
            </a:pPr>
            <a:r>
              <a:rPr lang="es"/>
              <a:t>Discusiones en cursos</a:t>
            </a:r>
            <a:endParaRPr/>
          </a:p>
          <a:p>
            <a:pPr indent="-342900" lvl="0" marL="457200" rtl="0" algn="l">
              <a:spcBef>
                <a:spcPts val="0"/>
              </a:spcBef>
              <a:spcAft>
                <a:spcPts val="0"/>
              </a:spcAft>
              <a:buSzPts val="1800"/>
              <a:buAutoNum type="arabicPeriod"/>
            </a:pPr>
            <a:r>
              <a:rPr lang="es"/>
              <a:t>Organizaciones profesionales</a:t>
            </a:r>
            <a:endParaRPr/>
          </a:p>
          <a:p>
            <a:pPr indent="-342900" lvl="0" marL="457200" rtl="0" algn="l">
              <a:spcBef>
                <a:spcPts val="0"/>
              </a:spcBef>
              <a:spcAft>
                <a:spcPts val="0"/>
              </a:spcAft>
              <a:buSzPts val="1800"/>
              <a:buAutoNum type="arabicPeriod"/>
            </a:pPr>
            <a:r>
              <a:rPr lang="es"/>
              <a:t>Cursos de ética</a:t>
            </a:r>
            <a:endParaRPr/>
          </a:p>
          <a:p>
            <a:pPr indent="-342900" lvl="0" marL="457200" rtl="0" algn="l">
              <a:spcBef>
                <a:spcPts val="0"/>
              </a:spcBef>
              <a:spcAft>
                <a:spcPts val="0"/>
              </a:spcAft>
              <a:buSzPts val="1800"/>
              <a:buAutoNum type="arabicPeriod"/>
            </a:pPr>
            <a:r>
              <a:rPr lang="es"/>
              <a:t>Otros</a:t>
            </a:r>
            <a:endParaRPr/>
          </a:p>
        </p:txBody>
      </p:sp>
      <p:pic>
        <p:nvPicPr>
          <p:cNvPr id="68" name="Google Shape;68;p15"/>
          <p:cNvPicPr preferRelativeResize="0"/>
          <p:nvPr/>
        </p:nvPicPr>
        <p:blipFill>
          <a:blip r:embed="rId3">
            <a:alphaModFix/>
          </a:blip>
          <a:stretch>
            <a:fillRect/>
          </a:stretch>
        </p:blipFill>
        <p:spPr>
          <a:xfrm>
            <a:off x="5128225" y="1689200"/>
            <a:ext cx="2942850" cy="2342950"/>
          </a:xfrm>
          <a:prstGeom prst="rect">
            <a:avLst/>
          </a:prstGeom>
          <a:noFill/>
          <a:ln>
            <a:noFill/>
          </a:ln>
        </p:spPr>
      </p:pic>
      <p:sp>
        <p:nvSpPr>
          <p:cNvPr id="69" name="Google Shape;69;p15"/>
          <p:cNvSpPr txBox="1"/>
          <p:nvPr/>
        </p:nvSpPr>
        <p:spPr>
          <a:xfrm>
            <a:off x="4960350" y="4133975"/>
            <a:ext cx="3000000" cy="8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s" sz="1350" u="sng">
                <a:solidFill>
                  <a:srgbClr val="DD9933"/>
                </a:solidFill>
                <a:highlight>
                  <a:srgbClr val="FFFFFF"/>
                </a:highlight>
                <a:hlinkClick r:id="rId4">
                  <a:extLst>
                    <a:ext uri="{A12FA001-AC4F-418D-AE19-62706E023703}">
                      <ahyp:hlinkClr val="tx"/>
                    </a:ext>
                  </a:extLst>
                </a:hlinkClick>
              </a:rPr>
              <a:t>ignorelimits.com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Conjunto de obligaciones de un investigador</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Obligación de honrar la confianza depositada por colegas en nuestra persona</a:t>
            </a:r>
            <a:endParaRPr/>
          </a:p>
          <a:p>
            <a:pPr indent="-342900" lvl="0" marL="457200" rtl="0" algn="l">
              <a:spcBef>
                <a:spcPts val="0"/>
              </a:spcBef>
              <a:spcAft>
                <a:spcPts val="0"/>
              </a:spcAft>
              <a:buSzPts val="1800"/>
              <a:buAutoNum type="arabicPeriod"/>
            </a:pPr>
            <a:r>
              <a:rPr lang="es"/>
              <a:t>O</a:t>
            </a:r>
            <a:r>
              <a:rPr lang="es"/>
              <a:t>bligación</a:t>
            </a:r>
            <a:r>
              <a:rPr lang="es"/>
              <a:t> consigo mismo. Una conducta irresponsable en investigación puede hacer que alcanzar una meta sea imposible.</a:t>
            </a:r>
            <a:endParaRPr/>
          </a:p>
          <a:p>
            <a:pPr indent="-342900" lvl="0" marL="457200" rtl="0" algn="l">
              <a:spcBef>
                <a:spcPts val="0"/>
              </a:spcBef>
              <a:spcAft>
                <a:spcPts val="0"/>
              </a:spcAft>
              <a:buSzPts val="1800"/>
              <a:buAutoNum type="arabicPeriod"/>
            </a:pPr>
            <a:r>
              <a:rPr lang="es"/>
              <a:t>Obligación de actuar en formas que sirvan al público</a:t>
            </a:r>
            <a:endParaRPr/>
          </a:p>
        </p:txBody>
      </p:sp>
      <p:sp>
        <p:nvSpPr>
          <p:cNvPr id="76" name="Google Shape;76;p16"/>
          <p:cNvSpPr txBox="1"/>
          <p:nvPr/>
        </p:nvSpPr>
        <p:spPr>
          <a:xfrm>
            <a:off x="3037250" y="2884625"/>
            <a:ext cx="5372400" cy="1966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a:t>Un recurso interesante para estudiar mas del tema:</a:t>
            </a:r>
            <a:endParaRPr/>
          </a:p>
          <a:p>
            <a:pPr indent="0" lvl="0" marL="0" rtl="0" algn="l">
              <a:spcBef>
                <a:spcPts val="0"/>
              </a:spcBef>
              <a:spcAft>
                <a:spcPts val="0"/>
              </a:spcAft>
              <a:buNone/>
            </a:pPr>
            <a:r>
              <a:t/>
            </a:r>
            <a:endParaRPr/>
          </a:p>
          <a:p>
            <a:pPr indent="0" lvl="0" marL="0" rtl="0" algn="l">
              <a:spcBef>
                <a:spcPts val="0"/>
              </a:spcBef>
              <a:spcAft>
                <a:spcPts val="0"/>
              </a:spcAft>
              <a:buNone/>
            </a:pPr>
            <a:r>
              <a:rPr lang="es" sz="1000">
                <a:solidFill>
                  <a:srgbClr val="222222"/>
                </a:solidFill>
                <a:highlight>
                  <a:srgbClr val="FFFFFF"/>
                </a:highlight>
              </a:rPr>
              <a:t>National Academy of Sciences, N. A. (2009). </a:t>
            </a:r>
            <a:r>
              <a:rPr i="1" lang="es" sz="1000">
                <a:solidFill>
                  <a:srgbClr val="222222"/>
                </a:solidFill>
                <a:highlight>
                  <a:srgbClr val="FFFFFF"/>
                </a:highlight>
              </a:rPr>
              <a:t>On being a scientist: a guide to responsible conduct in research</a:t>
            </a:r>
            <a:r>
              <a:rPr lang="es" sz="1000">
                <a:solidFill>
                  <a:srgbClr val="222222"/>
                </a:solidFill>
                <a:highlight>
                  <a:srgbClr val="FFFFFF"/>
                </a:highlight>
              </a:rPr>
              <a:t>. National Academies Press (US).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Ética al compartir el conocimiento científico</a:t>
            </a:r>
            <a:endParaRPr/>
          </a:p>
          <a:p>
            <a:pPr indent="-342900" lvl="0" marL="457200" rtl="0" algn="l">
              <a:spcBef>
                <a:spcPts val="0"/>
              </a:spcBef>
              <a:spcAft>
                <a:spcPts val="0"/>
              </a:spcAft>
              <a:buSzPts val="1800"/>
              <a:buAutoNum type="arabicPeriod"/>
            </a:pPr>
            <a:r>
              <a:rPr lang="es"/>
              <a:t>Práctica en el laboratorio y Conflictos de </a:t>
            </a:r>
            <a:r>
              <a:rPr lang="es"/>
              <a:t>Interés</a:t>
            </a:r>
            <a:endParaRPr/>
          </a:p>
          <a:p>
            <a:pPr indent="-342900" lvl="0" marL="457200" rtl="0" algn="l">
              <a:spcBef>
                <a:spcPts val="0"/>
              </a:spcBef>
              <a:spcAft>
                <a:spcPts val="0"/>
              </a:spcAft>
              <a:buSzPts val="1800"/>
              <a:buAutoNum type="arabicPeriod"/>
            </a:pPr>
            <a:r>
              <a:rPr lang="es"/>
              <a:t>Ética en la investigación con seres vivos/humanos</a:t>
            </a:r>
            <a:endParaRPr/>
          </a:p>
        </p:txBody>
      </p:sp>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Tres niveles de ética en investigación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Ética al compartir el conocimiento científico</a:t>
            </a:r>
            <a:endParaRPr/>
          </a:p>
          <a:p>
            <a:pPr indent="-317500" lvl="1" marL="914400" rtl="0" algn="l">
              <a:spcBef>
                <a:spcPts val="0"/>
              </a:spcBef>
              <a:spcAft>
                <a:spcPts val="0"/>
              </a:spcAft>
              <a:buSzPts val="1400"/>
              <a:buAutoNum type="alphaLcPeriod"/>
            </a:pPr>
            <a:r>
              <a:rPr lang="es"/>
              <a:t>Publicación científica</a:t>
            </a:r>
            <a:endParaRPr/>
          </a:p>
          <a:p>
            <a:pPr indent="-317500" lvl="1" marL="914400" rtl="0" algn="l">
              <a:spcBef>
                <a:spcPts val="0"/>
              </a:spcBef>
              <a:spcAft>
                <a:spcPts val="0"/>
              </a:spcAft>
              <a:buSzPts val="1400"/>
              <a:buAutoNum type="alphaLcPeriod"/>
            </a:pPr>
            <a:r>
              <a:rPr lang="es"/>
              <a:t>Autoría</a:t>
            </a:r>
            <a:endParaRPr/>
          </a:p>
          <a:p>
            <a:pPr indent="-317500" lvl="1" marL="914400" rtl="0" algn="l">
              <a:spcBef>
                <a:spcPts val="0"/>
              </a:spcBef>
              <a:spcAft>
                <a:spcPts val="0"/>
              </a:spcAft>
              <a:buSzPts val="1400"/>
              <a:buAutoNum type="alphaLcPeriod"/>
            </a:pPr>
            <a:r>
              <a:rPr lang="es"/>
              <a:t>Problemas de conducta (Fabricación, falsificación, plagio, conductas cuestionables: FFP y QRP)</a:t>
            </a:r>
            <a:endParaRPr/>
          </a:p>
          <a:p>
            <a:pPr indent="0" lvl="0" marL="457200" rtl="0" algn="l">
              <a:spcBef>
                <a:spcPts val="1600"/>
              </a:spcBef>
              <a:spcAft>
                <a:spcPts val="1600"/>
              </a:spcAft>
              <a:buNone/>
            </a:pPr>
            <a:r>
              <a:t/>
            </a:r>
            <a:endParaRPr/>
          </a:p>
        </p:txBody>
      </p:sp>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Tres niveles de ética en investigación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s"/>
              <a:t>Práctica en el laboratorio y Conflictos de </a:t>
            </a:r>
            <a:r>
              <a:rPr lang="es"/>
              <a:t>Interés</a:t>
            </a:r>
            <a:endParaRPr/>
          </a:p>
          <a:p>
            <a:pPr indent="-317500" lvl="1" marL="914400" rtl="0" algn="l">
              <a:spcBef>
                <a:spcPts val="0"/>
              </a:spcBef>
              <a:spcAft>
                <a:spcPts val="0"/>
              </a:spcAft>
              <a:buSzPts val="1400"/>
              <a:buAutoNum type="alphaLcPeriod"/>
            </a:pPr>
            <a:r>
              <a:rPr lang="es"/>
              <a:t>Manipulación de datos</a:t>
            </a:r>
            <a:endParaRPr/>
          </a:p>
          <a:p>
            <a:pPr indent="-317500" lvl="1" marL="914400" rtl="0" algn="l">
              <a:spcBef>
                <a:spcPts val="0"/>
              </a:spcBef>
              <a:spcAft>
                <a:spcPts val="0"/>
              </a:spcAft>
              <a:buSzPts val="1400"/>
              <a:buAutoNum type="alphaLcPeriod"/>
            </a:pPr>
            <a:r>
              <a:rPr lang="es"/>
              <a:t>Propiedad de los datos</a:t>
            </a:r>
            <a:endParaRPr/>
          </a:p>
          <a:p>
            <a:pPr indent="-317500" lvl="1" marL="914400" rtl="0" algn="l">
              <a:spcBef>
                <a:spcPts val="0"/>
              </a:spcBef>
              <a:spcAft>
                <a:spcPts val="0"/>
              </a:spcAft>
              <a:buSzPts val="1400"/>
              <a:buAutoNum type="alphaLcPeriod"/>
            </a:pPr>
            <a:r>
              <a:rPr lang="es"/>
              <a:t>Propiedad intelectual</a:t>
            </a:r>
            <a:endParaRPr/>
          </a:p>
          <a:p>
            <a:pPr indent="-317500" lvl="1" marL="914400" rtl="0" algn="l">
              <a:spcBef>
                <a:spcPts val="0"/>
              </a:spcBef>
              <a:spcAft>
                <a:spcPts val="0"/>
              </a:spcAft>
              <a:buSzPts val="1400"/>
              <a:buAutoNum type="alphaLcPeriod"/>
            </a:pPr>
            <a:r>
              <a:rPr lang="es"/>
              <a:t>Conflictos de interés</a:t>
            </a:r>
            <a:endParaRPr/>
          </a:p>
          <a:p>
            <a:pPr indent="-317500" lvl="1" marL="914400" rtl="0" algn="l">
              <a:spcBef>
                <a:spcPts val="0"/>
              </a:spcBef>
              <a:spcAft>
                <a:spcPts val="0"/>
              </a:spcAft>
              <a:buSzPts val="1400"/>
              <a:buAutoNum type="alphaLcPeriod"/>
            </a:pPr>
            <a:r>
              <a:rPr lang="es"/>
              <a:t>Compromiso</a:t>
            </a:r>
            <a:endParaRPr/>
          </a:p>
          <a:p>
            <a:pPr indent="-317500" lvl="1" marL="914400" rtl="0" algn="l">
              <a:spcBef>
                <a:spcPts val="0"/>
              </a:spcBef>
              <a:spcAft>
                <a:spcPts val="0"/>
              </a:spcAft>
              <a:buSzPts val="1400"/>
              <a:buAutoNum type="alphaLcPeriod"/>
            </a:pPr>
            <a:r>
              <a:rPr lang="es"/>
              <a:t>Investigación financiada por gobierno e industria</a:t>
            </a:r>
            <a:endParaRPr/>
          </a:p>
          <a:p>
            <a:pPr indent="-317500" lvl="1" marL="914400" rtl="0" algn="l">
              <a:spcBef>
                <a:spcPts val="0"/>
              </a:spcBef>
              <a:spcAft>
                <a:spcPts val="0"/>
              </a:spcAft>
              <a:buSzPts val="1400"/>
              <a:buAutoNum type="alphaLcPeriod"/>
            </a:pPr>
            <a:r>
              <a:rPr lang="es"/>
              <a:t>Compartir datos (papers y tesis)</a:t>
            </a:r>
            <a:endParaRPr/>
          </a:p>
        </p:txBody>
      </p:sp>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Tres niveles de ética en investigación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Conocimiento científico</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s"/>
              <a:t>“La ciencia es el conocimiento compartido basado en un entendimiento </a:t>
            </a:r>
            <a:r>
              <a:rPr lang="es"/>
              <a:t>común</a:t>
            </a:r>
            <a:r>
              <a:rPr lang="es"/>
              <a:t> de algún aspecto del mundo físico o social”</a:t>
            </a:r>
            <a:endParaRPr/>
          </a:p>
          <a:p>
            <a:pPr indent="0" lvl="0" marL="0" marR="0" rtl="0" algn="l">
              <a:lnSpc>
                <a:spcPct val="115000"/>
              </a:lnSpc>
              <a:spcBef>
                <a:spcPts val="1600"/>
              </a:spcBef>
              <a:spcAft>
                <a:spcPts val="0"/>
              </a:spcAft>
              <a:buNone/>
            </a:pPr>
            <a:r>
              <a:rPr lang="es"/>
              <a:t>“Hacer ciencia apunta a la generación de conocimiento nuevo. Sin embargo ese conocimiento generado por un individuo o por un grupo de individuos se contextualiza en la ciencia solo cuando se presenta a otros, quienes tienen entonces la posibilidad de juzgar su validez de forma independiente”</a:t>
            </a:r>
            <a:endParaRPr/>
          </a:p>
          <a:p>
            <a:pPr indent="0" lvl="0" marL="0" marR="0" rtl="0" algn="l">
              <a:lnSpc>
                <a:spcPct val="115000"/>
              </a:lnSpc>
              <a:spcBef>
                <a:spcPts val="1600"/>
              </a:spcBef>
              <a:spcAft>
                <a:spcPts val="0"/>
              </a:spcAft>
              <a:buNone/>
            </a:pPr>
            <a:r>
              <a:rPr lang="es"/>
              <a:t>Traducción y adaptación desde</a:t>
            </a:r>
            <a:endParaRPr/>
          </a:p>
          <a:p>
            <a:pPr indent="-292100" lvl="0" marL="457200" rtl="0" algn="l">
              <a:lnSpc>
                <a:spcPct val="100000"/>
              </a:lnSpc>
              <a:spcBef>
                <a:spcPts val="1600"/>
              </a:spcBef>
              <a:spcAft>
                <a:spcPts val="0"/>
              </a:spcAft>
              <a:buClr>
                <a:srgbClr val="222222"/>
              </a:buClr>
              <a:buSzPts val="1000"/>
              <a:buChar char="-"/>
            </a:pPr>
            <a:r>
              <a:rPr lang="es" sz="1000">
                <a:solidFill>
                  <a:srgbClr val="222222"/>
                </a:solidFill>
                <a:highlight>
                  <a:srgbClr val="FFFFFF"/>
                </a:highlight>
              </a:rPr>
              <a:t>National Academy of Sciences, N. A. (2009). </a:t>
            </a:r>
            <a:r>
              <a:rPr i="1" lang="es" sz="1000">
                <a:solidFill>
                  <a:srgbClr val="222222"/>
                </a:solidFill>
                <a:highlight>
                  <a:srgbClr val="FFFFFF"/>
                </a:highlight>
              </a:rPr>
              <a:t>On being a scientist: a guide to responsible conduct in research</a:t>
            </a:r>
            <a:r>
              <a:rPr lang="es" sz="1000">
                <a:solidFill>
                  <a:srgbClr val="222222"/>
                </a:solidFill>
                <a:highlight>
                  <a:srgbClr val="FFFFFF"/>
                </a:highlight>
              </a:rPr>
              <a:t>. National Academies Press (US).</a:t>
            </a:r>
            <a:endParaRPr sz="1000">
              <a:solidFill>
                <a:srgbClr val="222222"/>
              </a:solidFill>
              <a:highlight>
                <a:srgbClr val="FFFFFF"/>
              </a:highlight>
            </a:endParaRPr>
          </a:p>
          <a:p>
            <a:pPr indent="-292100" lvl="0" marL="457200" rtl="0" algn="l">
              <a:lnSpc>
                <a:spcPct val="100000"/>
              </a:lnSpc>
              <a:spcBef>
                <a:spcPts val="0"/>
              </a:spcBef>
              <a:spcAft>
                <a:spcPts val="0"/>
              </a:spcAft>
              <a:buClr>
                <a:srgbClr val="222222"/>
              </a:buClr>
              <a:buSzPts val="1000"/>
              <a:buChar char="-"/>
            </a:pPr>
            <a:r>
              <a:rPr lang="es" sz="1000">
                <a:solidFill>
                  <a:srgbClr val="222222"/>
                </a:solidFill>
                <a:highlight>
                  <a:srgbClr val="FFFFFF"/>
                </a:highlight>
              </a:rPr>
              <a:t>Prashant V. Kamat (2006). Research Ethics</a:t>
            </a:r>
            <a:endParaRPr sz="1000">
              <a:solidFill>
                <a:srgbClr val="222222"/>
              </a:solidFill>
              <a:highlight>
                <a:srgbClr val="FFFFFF"/>
              </a:highlight>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Conocimiento científico</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rtl="0" algn="l">
              <a:lnSpc>
                <a:spcPct val="100000"/>
              </a:lnSpc>
              <a:spcBef>
                <a:spcPts val="0"/>
              </a:spcBef>
              <a:spcAft>
                <a:spcPts val="0"/>
              </a:spcAft>
              <a:buClr>
                <a:srgbClr val="222222"/>
              </a:buClr>
              <a:buSzPts val="1000"/>
              <a:buChar char="-"/>
            </a:pPr>
            <a:r>
              <a:rPr lang="es"/>
              <a:t>El conocimiento científico se difunde de varias maneras:</a:t>
            </a:r>
            <a:endParaRPr/>
          </a:p>
          <a:p>
            <a:pPr indent="0" lvl="0" marL="0" rtl="0" algn="l">
              <a:lnSpc>
                <a:spcPct val="100000"/>
              </a:lnSpc>
              <a:spcBef>
                <a:spcPts val="0"/>
              </a:spcBef>
              <a:spcAft>
                <a:spcPts val="0"/>
              </a:spcAft>
              <a:buNone/>
            </a:pPr>
            <a:r>
              <a:t/>
            </a:r>
            <a:endParaRPr/>
          </a:p>
          <a:p>
            <a:pPr indent="-317500" lvl="1" marL="914400" rtl="0" algn="l">
              <a:lnSpc>
                <a:spcPct val="100000"/>
              </a:lnSpc>
              <a:spcBef>
                <a:spcPts val="0"/>
              </a:spcBef>
              <a:spcAft>
                <a:spcPts val="0"/>
              </a:spcAft>
              <a:buSzPts val="1400"/>
              <a:buChar char="-"/>
            </a:pPr>
            <a:r>
              <a:rPr lang="es"/>
              <a:t>Presentaciones en conferencias, convenciones sociales, workshops</a:t>
            </a:r>
            <a:endParaRPr/>
          </a:p>
          <a:p>
            <a:pPr indent="-317500" lvl="1" marL="914400" rtl="0" algn="l">
              <a:lnSpc>
                <a:spcPct val="100000"/>
              </a:lnSpc>
              <a:spcBef>
                <a:spcPts val="0"/>
              </a:spcBef>
              <a:spcAft>
                <a:spcPts val="0"/>
              </a:spcAft>
              <a:buSzPts val="1400"/>
              <a:buChar char="-"/>
            </a:pPr>
            <a:r>
              <a:rPr lang="es"/>
              <a:t>Publicaciones en revistas revisadas por pares</a:t>
            </a:r>
            <a:endParaRPr/>
          </a:p>
          <a:p>
            <a:pPr indent="-317500" lvl="1" marL="914400" rtl="0" algn="l">
              <a:lnSpc>
                <a:spcPct val="100000"/>
              </a:lnSpc>
              <a:spcBef>
                <a:spcPts val="0"/>
              </a:spcBef>
              <a:spcAft>
                <a:spcPts val="0"/>
              </a:spcAft>
              <a:buSzPts val="1400"/>
              <a:buChar char="-"/>
            </a:pPr>
            <a:r>
              <a:rPr lang="es"/>
              <a:t>Tesis y Memorias</a:t>
            </a:r>
            <a:endParaRPr/>
          </a:p>
          <a:p>
            <a:pPr indent="-317500" lvl="1" marL="914400" rtl="0" algn="l">
              <a:lnSpc>
                <a:spcPct val="100000"/>
              </a:lnSpc>
              <a:spcBef>
                <a:spcPts val="0"/>
              </a:spcBef>
              <a:spcAft>
                <a:spcPts val="0"/>
              </a:spcAft>
              <a:buSzPts val="1400"/>
              <a:buChar char="-"/>
            </a:pPr>
            <a:r>
              <a:rPr lang="es"/>
              <a:t>Libros</a:t>
            </a:r>
            <a:endParaRPr/>
          </a:p>
          <a:p>
            <a:pPr indent="0" lvl="0" marL="457200" rtl="0" algn="l">
              <a:lnSpc>
                <a:spcPct val="100000"/>
              </a:lnSpc>
              <a:spcBef>
                <a:spcPts val="0"/>
              </a:spcBef>
              <a:spcAft>
                <a:spcPts val="0"/>
              </a:spcAft>
              <a:buNone/>
            </a:pPr>
            <a:r>
              <a:t/>
            </a:r>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La importancia de publicar</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rgbClr val="222222"/>
              </a:buClr>
              <a:buSzPts val="1000"/>
              <a:buFont typeface="Arial"/>
              <a:buChar char="-"/>
            </a:pPr>
            <a:r>
              <a:rPr lang="es"/>
              <a:t>“Si no se ha publicado, no se ha hecho” E.H. Miller, 1993</a:t>
            </a:r>
            <a:endParaRPr/>
          </a:p>
          <a:p>
            <a:pPr indent="0" lvl="0" marL="457200" rtl="0" algn="l">
              <a:lnSpc>
                <a:spcPct val="100000"/>
              </a:lnSpc>
              <a:spcBef>
                <a:spcPts val="0"/>
              </a:spcBef>
              <a:spcAft>
                <a:spcPts val="0"/>
              </a:spcAft>
              <a:buNone/>
            </a:pPr>
            <a:r>
              <a:t/>
            </a:r>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Publicación como un trabajo en equipo</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rgbClr val="222222"/>
              </a:buClr>
              <a:buSzPts val="1000"/>
              <a:buFont typeface="Arial"/>
              <a:buChar char="-"/>
            </a:pPr>
            <a:r>
              <a:rPr lang="es"/>
              <a:t>Involucrados en el proceso:</a:t>
            </a:r>
            <a:endParaRPr/>
          </a:p>
          <a:p>
            <a:pPr indent="-317500" lvl="1" marL="914400" marR="0" rtl="0" algn="l">
              <a:lnSpc>
                <a:spcPct val="100000"/>
              </a:lnSpc>
              <a:spcBef>
                <a:spcPts val="0"/>
              </a:spcBef>
              <a:spcAft>
                <a:spcPts val="0"/>
              </a:spcAft>
              <a:buSzPts val="1400"/>
              <a:buChar char="-"/>
            </a:pPr>
            <a:r>
              <a:rPr lang="es"/>
              <a:t>Autores</a:t>
            </a:r>
            <a:endParaRPr/>
          </a:p>
          <a:p>
            <a:pPr indent="-317500" lvl="1" marL="914400" marR="0" rtl="0" algn="l">
              <a:lnSpc>
                <a:spcPct val="100000"/>
              </a:lnSpc>
              <a:spcBef>
                <a:spcPts val="0"/>
              </a:spcBef>
              <a:spcAft>
                <a:spcPts val="0"/>
              </a:spcAft>
              <a:buSzPts val="1400"/>
              <a:buChar char="-"/>
            </a:pPr>
            <a:r>
              <a:rPr lang="es"/>
              <a:t>Comité</a:t>
            </a:r>
            <a:r>
              <a:rPr lang="es"/>
              <a:t> editorial revista o comité de alguna conferencia</a:t>
            </a:r>
            <a:endParaRPr/>
          </a:p>
          <a:p>
            <a:pPr indent="-317500" lvl="1" marL="914400" marR="0" rtl="0" algn="l">
              <a:lnSpc>
                <a:spcPct val="100000"/>
              </a:lnSpc>
              <a:spcBef>
                <a:spcPts val="0"/>
              </a:spcBef>
              <a:spcAft>
                <a:spcPts val="0"/>
              </a:spcAft>
              <a:buSzPts val="1400"/>
              <a:buChar char="-"/>
            </a:pPr>
            <a:r>
              <a:rPr lang="es"/>
              <a:t>Evaluadores</a:t>
            </a:r>
            <a:endParaRPr/>
          </a:p>
          <a:p>
            <a:pPr indent="0" lvl="0" marL="457200" rtl="0" algn="l">
              <a:lnSpc>
                <a:spcPct val="100000"/>
              </a:lnSpc>
              <a:spcBef>
                <a:spcPts val="0"/>
              </a:spcBef>
              <a:spcAft>
                <a:spcPts val="0"/>
              </a:spcAft>
              <a:buNone/>
            </a:pPr>
            <a:r>
              <a:t/>
            </a:r>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rgbClr val="222222"/>
              </a:buClr>
              <a:buSzPts val="1000"/>
              <a:buFont typeface="Arial"/>
              <a:buChar char="-"/>
            </a:pPr>
            <a:r>
              <a:rPr lang="es"/>
              <a:t>Responsabilidad</a:t>
            </a:r>
            <a:endParaRPr/>
          </a:p>
          <a:p>
            <a:pPr indent="-342900" lvl="0" marL="457200" marR="0" rtl="0" algn="l">
              <a:lnSpc>
                <a:spcPct val="100000"/>
              </a:lnSpc>
              <a:spcBef>
                <a:spcPts val="0"/>
              </a:spcBef>
              <a:spcAft>
                <a:spcPts val="0"/>
              </a:spcAft>
              <a:buSzPts val="1800"/>
              <a:buChar char="-"/>
            </a:pPr>
            <a:r>
              <a:rPr lang="es"/>
              <a:t>Crédito</a:t>
            </a:r>
            <a:endParaRPr/>
          </a:p>
          <a:p>
            <a:pPr indent="-342900" lvl="0" marL="457200" marR="0" rtl="0" algn="l">
              <a:lnSpc>
                <a:spcPct val="100000"/>
              </a:lnSpc>
              <a:spcBef>
                <a:spcPts val="0"/>
              </a:spcBef>
              <a:spcAft>
                <a:spcPts val="0"/>
              </a:spcAft>
              <a:buSzPts val="1800"/>
              <a:buChar char="-"/>
            </a:pPr>
            <a:r>
              <a:rPr lang="es"/>
              <a:t>Contribuciones</a:t>
            </a:r>
            <a:r>
              <a:rPr lang="es"/>
              <a:t>:</a:t>
            </a:r>
            <a:endParaRPr/>
          </a:p>
          <a:p>
            <a:pPr indent="-317500" lvl="1" marL="914400" marR="0" rtl="0" algn="l">
              <a:lnSpc>
                <a:spcPct val="100000"/>
              </a:lnSpc>
              <a:spcBef>
                <a:spcPts val="0"/>
              </a:spcBef>
              <a:spcAft>
                <a:spcPts val="0"/>
              </a:spcAft>
              <a:buSzPts val="1400"/>
              <a:buChar char="-"/>
            </a:pPr>
            <a:r>
              <a:rPr lang="es"/>
              <a:t>Intelectuales</a:t>
            </a:r>
            <a:endParaRPr/>
          </a:p>
          <a:p>
            <a:pPr indent="-317500" lvl="1" marL="914400" marR="0" rtl="0" algn="l">
              <a:lnSpc>
                <a:spcPct val="100000"/>
              </a:lnSpc>
              <a:spcBef>
                <a:spcPts val="0"/>
              </a:spcBef>
              <a:spcAft>
                <a:spcPts val="0"/>
              </a:spcAft>
              <a:buSzPts val="1400"/>
              <a:buChar char="-"/>
            </a:pPr>
            <a:r>
              <a:rPr lang="es"/>
              <a:t>Diseño</a:t>
            </a:r>
            <a:endParaRPr/>
          </a:p>
          <a:p>
            <a:pPr indent="-317500" lvl="1" marL="914400" marR="0" rtl="0" algn="l">
              <a:lnSpc>
                <a:spcPct val="100000"/>
              </a:lnSpc>
              <a:spcBef>
                <a:spcPts val="0"/>
              </a:spcBef>
              <a:spcAft>
                <a:spcPts val="0"/>
              </a:spcAft>
              <a:buSzPts val="1400"/>
              <a:buChar char="-"/>
            </a:pPr>
            <a:r>
              <a:rPr lang="es"/>
              <a:t>Interpretación de los datos</a:t>
            </a:r>
            <a:endParaRPr/>
          </a:p>
          <a:p>
            <a:pPr indent="-317500" lvl="1" marL="914400" marR="0" rtl="0" algn="l">
              <a:lnSpc>
                <a:spcPct val="100000"/>
              </a:lnSpc>
              <a:spcBef>
                <a:spcPts val="0"/>
              </a:spcBef>
              <a:spcAft>
                <a:spcPts val="0"/>
              </a:spcAft>
              <a:buSzPts val="1400"/>
              <a:buChar char="-"/>
            </a:pPr>
            <a:r>
              <a:rPr lang="es"/>
              <a:t>Redacción del documento</a:t>
            </a:r>
            <a:endParaRPr/>
          </a:p>
          <a:p>
            <a:pPr indent="0" lvl="0" marL="457200" marR="0" rtl="0" algn="l">
              <a:lnSpc>
                <a:spcPct val="100000"/>
              </a:lnSpc>
              <a:spcBef>
                <a:spcPts val="0"/>
              </a:spcBef>
              <a:spcAft>
                <a:spcPts val="0"/>
              </a:spcAft>
              <a:buNone/>
            </a:pPr>
            <a:r>
              <a:t/>
            </a:r>
            <a:endParaRPr/>
          </a:p>
          <a:p>
            <a:pPr indent="-342900" lvl="0" marL="457200" marR="0" rtl="0" algn="l">
              <a:lnSpc>
                <a:spcPct val="100000"/>
              </a:lnSpc>
              <a:spcBef>
                <a:spcPts val="0"/>
              </a:spcBef>
              <a:spcAft>
                <a:spcPts val="0"/>
              </a:spcAft>
              <a:buSzPts val="1800"/>
              <a:buChar char="-"/>
            </a:pPr>
            <a:r>
              <a:rPr lang="es"/>
              <a:t>Reconocimiento</a:t>
            </a:r>
            <a:endParaRPr/>
          </a:p>
          <a:p>
            <a:pPr indent="-317500" lvl="1" marL="914400" marR="0" rtl="0" algn="l">
              <a:lnSpc>
                <a:spcPct val="100000"/>
              </a:lnSpc>
              <a:spcBef>
                <a:spcPts val="0"/>
              </a:spcBef>
              <a:spcAft>
                <a:spcPts val="0"/>
              </a:spcAft>
              <a:buSzPts val="1400"/>
              <a:buChar char="-"/>
            </a:pPr>
            <a:r>
              <a:rPr lang="es"/>
              <a:t>Se otorga a quienes </a:t>
            </a:r>
            <a:r>
              <a:rPr lang="es"/>
              <a:t>indirectamente</a:t>
            </a:r>
            <a:r>
              <a:rPr lang="es"/>
              <a:t> contribuyeron al trabajo (ej: quienes financian el proyecto, participantes)</a:t>
            </a:r>
            <a:endParaRPr/>
          </a:p>
          <a:p>
            <a:pPr indent="0" lvl="0" marL="0" marR="0" rtl="0" algn="l">
              <a:lnSpc>
                <a:spcPct val="115000"/>
              </a:lnSpc>
              <a:spcBef>
                <a:spcPts val="0"/>
              </a:spcBef>
              <a:spcAft>
                <a:spcPts val="1600"/>
              </a:spcAft>
              <a:buNone/>
            </a:pPr>
            <a:r>
              <a:t/>
            </a:r>
            <a:endParaRPr/>
          </a:p>
        </p:txBody>
      </p:sp>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Autoría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Autoría</a:t>
            </a:r>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rgbClr val="222222"/>
              </a:buClr>
              <a:buSzPts val="1000"/>
              <a:buFont typeface="Arial"/>
              <a:buChar char="-"/>
            </a:pPr>
            <a:r>
              <a:rPr lang="es"/>
              <a:t>Responsabilidad de los autores</a:t>
            </a:r>
            <a:endParaRPr/>
          </a:p>
          <a:p>
            <a:pPr indent="-317500" lvl="1" marL="914400" marR="0" rtl="0" algn="l">
              <a:lnSpc>
                <a:spcPct val="100000"/>
              </a:lnSpc>
              <a:spcBef>
                <a:spcPts val="0"/>
              </a:spcBef>
              <a:spcAft>
                <a:spcPts val="0"/>
              </a:spcAft>
              <a:buSzPts val="1400"/>
              <a:buChar char="-"/>
            </a:pPr>
            <a:r>
              <a:rPr lang="es"/>
              <a:t>Asegurar que el trabajo es nuevo/original</a:t>
            </a:r>
            <a:endParaRPr/>
          </a:p>
          <a:p>
            <a:pPr indent="-317500" lvl="1" marL="914400" marR="0" rtl="0" algn="l">
              <a:lnSpc>
                <a:spcPct val="100000"/>
              </a:lnSpc>
              <a:spcBef>
                <a:spcPts val="0"/>
              </a:spcBef>
              <a:spcAft>
                <a:spcPts val="0"/>
              </a:spcAft>
              <a:buSzPts val="1400"/>
              <a:buChar char="-"/>
            </a:pPr>
            <a:r>
              <a:rPr lang="es"/>
              <a:t>Todos están conscientes del trabajo y están de acuerdo con su contenido y lo respaldan</a:t>
            </a:r>
            <a:endParaRPr/>
          </a:p>
          <a:p>
            <a:pPr indent="-317500" lvl="1" marL="914400" marR="0" rtl="0" algn="l">
              <a:lnSpc>
                <a:spcPct val="100000"/>
              </a:lnSpc>
              <a:spcBef>
                <a:spcPts val="0"/>
              </a:spcBef>
              <a:spcAft>
                <a:spcPts val="0"/>
              </a:spcAft>
              <a:buSzPts val="1400"/>
              <a:buChar char="-"/>
            </a:pPr>
            <a:r>
              <a:rPr lang="es"/>
              <a:t>Están de acuerdo que el trabajo sea revisado por revisores anónimos</a:t>
            </a:r>
            <a:endParaRPr/>
          </a:p>
          <a:p>
            <a:pPr indent="-317500" lvl="1" marL="914400" marR="0" rtl="0" algn="l">
              <a:lnSpc>
                <a:spcPct val="100000"/>
              </a:lnSpc>
              <a:spcBef>
                <a:spcPts val="0"/>
              </a:spcBef>
              <a:spcAft>
                <a:spcPts val="0"/>
              </a:spcAft>
              <a:buSzPts val="1400"/>
              <a:buChar char="-"/>
            </a:pPr>
            <a:r>
              <a:rPr lang="es"/>
              <a:t>Proveen copias del trabajo relacionado o publicado en otras partes</a:t>
            </a:r>
            <a:endParaRPr/>
          </a:p>
          <a:p>
            <a:pPr indent="-317500" lvl="1" marL="914400" marR="0" rtl="0" algn="l">
              <a:lnSpc>
                <a:spcPct val="100000"/>
              </a:lnSpc>
              <a:spcBef>
                <a:spcPts val="0"/>
              </a:spcBef>
              <a:spcAft>
                <a:spcPts val="0"/>
              </a:spcAft>
              <a:buSzPts val="1400"/>
              <a:buChar char="-"/>
            </a:pPr>
            <a:r>
              <a:rPr lang="es"/>
              <a:t>Obtienen el permiso para usar figuras y tablas de otros trabajos</a:t>
            </a:r>
            <a:endParaRPr/>
          </a:p>
          <a:p>
            <a:pPr indent="-317500" lvl="1" marL="914400" marR="0" rtl="0" algn="l">
              <a:lnSpc>
                <a:spcPct val="100000"/>
              </a:lnSpc>
              <a:spcBef>
                <a:spcPts val="0"/>
              </a:spcBef>
              <a:spcAft>
                <a:spcPts val="0"/>
              </a:spcAft>
              <a:buSzPts val="1400"/>
              <a:buChar char="-"/>
            </a:pPr>
            <a:r>
              <a:rPr lang="es"/>
              <a:t>Incluyen su afiliación correcta</a:t>
            </a:r>
            <a:endParaRPr/>
          </a:p>
          <a:p>
            <a:pPr indent="0" lvl="0" marL="457200" rtl="0" algn="l">
              <a:lnSpc>
                <a:spcPct val="100000"/>
              </a:lnSpc>
              <a:spcBef>
                <a:spcPts val="0"/>
              </a:spcBef>
              <a:spcAft>
                <a:spcPts val="0"/>
              </a:spcAft>
              <a:buNone/>
            </a:pPr>
            <a:r>
              <a:t/>
            </a:r>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Lo que es publicable</a:t>
            </a:r>
            <a:endParaRPr/>
          </a:p>
        </p:txBody>
      </p:sp>
      <p:sp>
        <p:nvSpPr>
          <p:cNvPr id="136" name="Google Shape;136;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marR="0" rtl="0" algn="l">
              <a:lnSpc>
                <a:spcPct val="100000"/>
              </a:lnSpc>
              <a:spcBef>
                <a:spcPts val="0"/>
              </a:spcBef>
              <a:spcAft>
                <a:spcPts val="0"/>
              </a:spcAft>
              <a:buClr>
                <a:srgbClr val="222222"/>
              </a:buClr>
              <a:buSzPts val="1000"/>
              <a:buFont typeface="Arial"/>
              <a:buChar char="-"/>
            </a:pPr>
            <a:r>
              <a:rPr lang="es"/>
              <a:t>Trabajos originales </a:t>
            </a:r>
            <a:endParaRPr/>
          </a:p>
          <a:p>
            <a:pPr indent="-292100" lvl="0" marL="457200" marR="0" rtl="0" algn="l">
              <a:lnSpc>
                <a:spcPct val="100000"/>
              </a:lnSpc>
              <a:spcBef>
                <a:spcPts val="0"/>
              </a:spcBef>
              <a:spcAft>
                <a:spcPts val="0"/>
              </a:spcAft>
              <a:buClr>
                <a:srgbClr val="222222"/>
              </a:buClr>
              <a:buSzPts val="1000"/>
              <a:buFont typeface="Arial"/>
              <a:buChar char="-"/>
            </a:pPr>
            <a:r>
              <a:rPr lang="es"/>
              <a:t>Resultados significativos</a:t>
            </a:r>
            <a:endParaRPr/>
          </a:p>
          <a:p>
            <a:pPr indent="-342900" lvl="0" marL="457200" marR="0" rtl="0" algn="l">
              <a:lnSpc>
                <a:spcPct val="100000"/>
              </a:lnSpc>
              <a:spcBef>
                <a:spcPts val="0"/>
              </a:spcBef>
              <a:spcAft>
                <a:spcPts val="0"/>
              </a:spcAft>
              <a:buSzPts val="1800"/>
              <a:buChar char="-"/>
            </a:pPr>
            <a:r>
              <a:rPr lang="es"/>
              <a:t>De interés para los lectores</a:t>
            </a:r>
            <a:endParaRPr/>
          </a:p>
          <a:p>
            <a:pPr indent="-342900" lvl="0" marL="457200" marR="0" rtl="0" algn="l">
              <a:lnSpc>
                <a:spcPct val="100000"/>
              </a:lnSpc>
              <a:spcBef>
                <a:spcPts val="0"/>
              </a:spcBef>
              <a:spcAft>
                <a:spcPts val="0"/>
              </a:spcAft>
              <a:buSzPts val="1800"/>
              <a:buChar char="-"/>
            </a:pPr>
            <a:r>
              <a:rPr lang="es"/>
              <a:t>Trabajos bien organizados y presentados</a:t>
            </a:r>
            <a:endParaRPr/>
          </a:p>
          <a:p>
            <a:pPr indent="-342900" lvl="0" marL="457200" marR="0" rtl="0" algn="l">
              <a:lnSpc>
                <a:spcPct val="100000"/>
              </a:lnSpc>
              <a:spcBef>
                <a:spcPts val="0"/>
              </a:spcBef>
              <a:spcAft>
                <a:spcPts val="0"/>
              </a:spcAft>
              <a:buSzPts val="1800"/>
              <a:buChar char="-"/>
            </a:pPr>
            <a:r>
              <a:rPr lang="es"/>
              <a:t>Trabajos concisos y a la vez completos</a:t>
            </a:r>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Lo que no es aceptable</a:t>
            </a:r>
            <a:endParaRPr/>
          </a:p>
        </p:txBody>
      </p:sp>
      <p:sp>
        <p:nvSpPr>
          <p:cNvPr id="142" name="Google Shape;142;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SzPts val="1800"/>
              <a:buChar char="-"/>
            </a:pPr>
            <a:r>
              <a:rPr lang="es"/>
              <a:t>Extensiones de reportes anteriores</a:t>
            </a:r>
            <a:endParaRPr/>
          </a:p>
          <a:p>
            <a:pPr indent="-342900" lvl="0" marL="457200" marR="0" rtl="0" algn="l">
              <a:lnSpc>
                <a:spcPct val="100000"/>
              </a:lnSpc>
              <a:spcBef>
                <a:spcPts val="0"/>
              </a:spcBef>
              <a:spcAft>
                <a:spcPts val="0"/>
              </a:spcAft>
              <a:buSzPts val="1800"/>
              <a:buChar char="-"/>
            </a:pPr>
            <a:r>
              <a:rPr lang="es"/>
              <a:t>Reportes fragmentados o incrementales</a:t>
            </a:r>
            <a:endParaRPr/>
          </a:p>
          <a:p>
            <a:pPr indent="-342900" lvl="0" marL="457200" marR="0" rtl="0" algn="l">
              <a:lnSpc>
                <a:spcPct val="100000"/>
              </a:lnSpc>
              <a:spcBef>
                <a:spcPts val="0"/>
              </a:spcBef>
              <a:spcAft>
                <a:spcPts val="0"/>
              </a:spcAft>
              <a:buSzPts val="1800"/>
              <a:buChar char="-"/>
            </a:pPr>
            <a:r>
              <a:rPr lang="es"/>
              <a:t>Trabajos verbosos, mal estructurados, mal presentados</a:t>
            </a:r>
            <a:endParaRPr/>
          </a:p>
          <a:p>
            <a:pPr indent="-342900" lvl="0" marL="457200" marR="0" rtl="0" algn="l">
              <a:lnSpc>
                <a:spcPct val="100000"/>
              </a:lnSpc>
              <a:spcBef>
                <a:spcPts val="0"/>
              </a:spcBef>
              <a:spcAft>
                <a:spcPts val="0"/>
              </a:spcAft>
              <a:buSzPts val="1800"/>
              <a:buChar char="-"/>
            </a:pPr>
            <a:r>
              <a:rPr lang="es"/>
              <a:t>Violaciones a convenciones éticas (ej., plagio)</a:t>
            </a:r>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Malas conductas en prácticas en investigación (QRP)</a:t>
            </a:r>
            <a:endParaRPr/>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a:p>
          <a:p>
            <a:pPr indent="-342900" lvl="0" marL="457200" marR="0" rtl="0" algn="l">
              <a:lnSpc>
                <a:spcPct val="100000"/>
              </a:lnSpc>
              <a:spcBef>
                <a:spcPts val="0"/>
              </a:spcBef>
              <a:spcAft>
                <a:spcPts val="0"/>
              </a:spcAft>
              <a:buSzPts val="1800"/>
              <a:buChar char="-"/>
            </a:pPr>
            <a:r>
              <a:rPr lang="es"/>
              <a:t>FFP</a:t>
            </a:r>
            <a:endParaRPr/>
          </a:p>
          <a:p>
            <a:pPr indent="-317500" lvl="1" marL="914400" marR="0" rtl="0" algn="l">
              <a:lnSpc>
                <a:spcPct val="100000"/>
              </a:lnSpc>
              <a:spcBef>
                <a:spcPts val="0"/>
              </a:spcBef>
              <a:spcAft>
                <a:spcPts val="0"/>
              </a:spcAft>
              <a:buSzPts val="1400"/>
              <a:buChar char="-"/>
            </a:pPr>
            <a:r>
              <a:rPr lang="es"/>
              <a:t>Fabricación</a:t>
            </a:r>
            <a:endParaRPr/>
          </a:p>
          <a:p>
            <a:pPr indent="-317500" lvl="1" marL="914400" marR="0" rtl="0" algn="l">
              <a:lnSpc>
                <a:spcPct val="100000"/>
              </a:lnSpc>
              <a:spcBef>
                <a:spcPts val="0"/>
              </a:spcBef>
              <a:spcAft>
                <a:spcPts val="0"/>
              </a:spcAft>
              <a:buSzPts val="1400"/>
              <a:buChar char="-"/>
            </a:pPr>
            <a:r>
              <a:rPr lang="es"/>
              <a:t>Falsificación</a:t>
            </a:r>
            <a:endParaRPr/>
          </a:p>
          <a:p>
            <a:pPr indent="-317500" lvl="1" marL="914400" marR="0" rtl="0" algn="l">
              <a:lnSpc>
                <a:spcPct val="100000"/>
              </a:lnSpc>
              <a:spcBef>
                <a:spcPts val="0"/>
              </a:spcBef>
              <a:spcAft>
                <a:spcPts val="0"/>
              </a:spcAft>
              <a:buSzPts val="1400"/>
              <a:buChar char="-"/>
            </a:pPr>
            <a:r>
              <a:rPr lang="es"/>
              <a:t>Plagio</a:t>
            </a:r>
            <a:endParaRPr/>
          </a:p>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t/>
            </a:r>
            <a:endParaRPr/>
          </a:p>
          <a:p>
            <a:pPr indent="-342900" lvl="0" marL="457200" marR="0" rtl="0" algn="l">
              <a:lnSpc>
                <a:spcPct val="100000"/>
              </a:lnSpc>
              <a:spcBef>
                <a:spcPts val="0"/>
              </a:spcBef>
              <a:spcAft>
                <a:spcPts val="0"/>
              </a:spcAft>
              <a:buSzPts val="1800"/>
              <a:buChar char="-"/>
            </a:pPr>
            <a:r>
              <a:rPr lang="es"/>
              <a:t>Los errores honestos no se consideran como parte de las malas conductas</a:t>
            </a:r>
            <a:endParaRPr/>
          </a:p>
          <a:p>
            <a:pPr indent="0" lvl="0" marL="0" marR="0" rtl="0" algn="l">
              <a:lnSpc>
                <a:spcPct val="115000"/>
              </a:lnSpc>
              <a:spcBef>
                <a:spcPts val="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Plagio</a:t>
            </a:r>
            <a:endParaRPr/>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Tomar ideas de otros y presentarlas como propias sin dar crédito explícito al trabajo y autores originales</a:t>
            </a:r>
            <a:endParaRPr/>
          </a:p>
        </p:txBody>
      </p:sp>
      <p:pic>
        <p:nvPicPr>
          <p:cNvPr id="155" name="Google Shape;155;p29"/>
          <p:cNvPicPr preferRelativeResize="0"/>
          <p:nvPr/>
        </p:nvPicPr>
        <p:blipFill>
          <a:blip r:embed="rId3">
            <a:alphaModFix/>
          </a:blip>
          <a:stretch>
            <a:fillRect/>
          </a:stretch>
        </p:blipFill>
        <p:spPr>
          <a:xfrm>
            <a:off x="2266925" y="2119349"/>
            <a:ext cx="4005999" cy="2236651"/>
          </a:xfrm>
          <a:prstGeom prst="rect">
            <a:avLst/>
          </a:prstGeom>
          <a:noFill/>
          <a:ln>
            <a:noFill/>
          </a:ln>
        </p:spPr>
      </p:pic>
      <p:sp>
        <p:nvSpPr>
          <p:cNvPr id="156" name="Google Shape;156;p29"/>
          <p:cNvSpPr txBox="1"/>
          <p:nvPr/>
        </p:nvSpPr>
        <p:spPr>
          <a:xfrm>
            <a:off x="717350" y="4652925"/>
            <a:ext cx="8115000" cy="32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s"/>
              <a:t>blaugh.com Fitz and Pirillo, 2015</a:t>
            </a:r>
            <a:endParaRPr i="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Plagio</a:t>
            </a:r>
            <a:endParaRPr/>
          </a:p>
        </p:txBody>
      </p:sp>
      <p:pic>
        <p:nvPicPr>
          <p:cNvPr id="162" name="Google Shape;162;p30"/>
          <p:cNvPicPr preferRelativeResize="0"/>
          <p:nvPr/>
        </p:nvPicPr>
        <p:blipFill>
          <a:blip r:embed="rId3">
            <a:alphaModFix/>
          </a:blip>
          <a:stretch>
            <a:fillRect/>
          </a:stretch>
        </p:blipFill>
        <p:spPr>
          <a:xfrm>
            <a:off x="1602350" y="661263"/>
            <a:ext cx="5454238" cy="3820975"/>
          </a:xfrm>
          <a:prstGeom prst="rect">
            <a:avLst/>
          </a:prstGeom>
          <a:noFill/>
          <a:ln>
            <a:noFill/>
          </a:ln>
        </p:spPr>
      </p:pic>
      <p:sp>
        <p:nvSpPr>
          <p:cNvPr id="163" name="Google Shape;163;p30"/>
          <p:cNvSpPr txBox="1"/>
          <p:nvPr/>
        </p:nvSpPr>
        <p:spPr>
          <a:xfrm>
            <a:off x="717350" y="4652925"/>
            <a:ext cx="8115000" cy="32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s"/>
              <a:t>https://www.planetminecraft.com/blog/plagiarism-a-worldwide-problem-a-thoughtful-blog/</a:t>
            </a:r>
            <a:endParaRPr i="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Auto </a:t>
            </a:r>
            <a:r>
              <a:rPr lang="es"/>
              <a:t>Plagio</a:t>
            </a:r>
            <a:endParaRPr/>
          </a:p>
        </p:txBody>
      </p:sp>
      <p:sp>
        <p:nvSpPr>
          <p:cNvPr id="169" name="Google Shape;169;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Tomar ideas propias, reutilizarlas y presentarlas como nuevas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Plagio y Autoplagio</a:t>
            </a:r>
            <a:endParaRPr/>
          </a:p>
        </p:txBody>
      </p:sp>
      <p:sp>
        <p:nvSpPr>
          <p:cNvPr id="175" name="Google Shape;175;p32"/>
          <p:cNvSpPr txBox="1"/>
          <p:nvPr/>
        </p:nvSpPr>
        <p:spPr>
          <a:xfrm>
            <a:off x="717350" y="4652925"/>
            <a:ext cx="8115000" cy="32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s"/>
              <a:t>https://www.fastcompany.com/3039921/a-map-of-scientific-plagiarism-around-the-world</a:t>
            </a:r>
            <a:endParaRPr i="1"/>
          </a:p>
        </p:txBody>
      </p:sp>
      <p:pic>
        <p:nvPicPr>
          <p:cNvPr id="176" name="Google Shape;176;p32"/>
          <p:cNvPicPr preferRelativeResize="0"/>
          <p:nvPr/>
        </p:nvPicPr>
        <p:blipFill>
          <a:blip r:embed="rId3">
            <a:alphaModFix/>
          </a:blip>
          <a:stretch>
            <a:fillRect/>
          </a:stretch>
        </p:blipFill>
        <p:spPr>
          <a:xfrm>
            <a:off x="311700" y="1154850"/>
            <a:ext cx="5676900" cy="3190875"/>
          </a:xfrm>
          <a:prstGeom prst="rect">
            <a:avLst/>
          </a:prstGeom>
          <a:noFill/>
          <a:ln>
            <a:noFill/>
          </a:ln>
        </p:spPr>
      </p:pic>
      <p:sp>
        <p:nvSpPr>
          <p:cNvPr id="177" name="Google Shape;177;p32"/>
          <p:cNvSpPr txBox="1"/>
          <p:nvPr/>
        </p:nvSpPr>
        <p:spPr>
          <a:xfrm>
            <a:off x="6211875" y="107175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350">
                <a:solidFill>
                  <a:schemeClr val="dk1"/>
                </a:solidFill>
                <a:latin typeface="Georgia"/>
                <a:ea typeface="Georgia"/>
                <a:cs typeface="Georgia"/>
                <a:sym typeface="Georgia"/>
              </a:rPr>
              <a:t>“... </a:t>
            </a:r>
            <a:r>
              <a:rPr lang="es" sz="1350">
                <a:solidFill>
                  <a:schemeClr val="dk1"/>
                </a:solidFill>
                <a:latin typeface="Georgia"/>
                <a:ea typeface="Georgia"/>
                <a:cs typeface="Georgia"/>
                <a:sym typeface="Georgia"/>
              </a:rPr>
              <a:t>among the 767,000 papers submitted from arXiv’s inception in 1991 until 2012, one in 16 authors were found to have copied long phrases and sentences from their own previously published work, and about one out of every 1,000 authors copied about a paragraph’s worth of text from other people’s papers without citing them.” (pf. 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Plagio y Autoplagio</a:t>
            </a:r>
            <a:endParaRPr/>
          </a:p>
        </p:txBody>
      </p:sp>
      <p:sp>
        <p:nvSpPr>
          <p:cNvPr id="183" name="Google Shape;183;p33"/>
          <p:cNvSpPr txBox="1"/>
          <p:nvPr/>
        </p:nvSpPr>
        <p:spPr>
          <a:xfrm>
            <a:off x="717350" y="4652925"/>
            <a:ext cx="8115000" cy="320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s"/>
              <a:t>https://www.researchgate.net/publication/231742591_Misconduct_accounts_for_the_majority_of_retracted_scientific_publications</a:t>
            </a:r>
            <a:endParaRPr i="1"/>
          </a:p>
        </p:txBody>
      </p:sp>
      <p:pic>
        <p:nvPicPr>
          <p:cNvPr id="184" name="Google Shape;184;p33"/>
          <p:cNvPicPr preferRelativeResize="0"/>
          <p:nvPr/>
        </p:nvPicPr>
        <p:blipFill>
          <a:blip r:embed="rId3">
            <a:alphaModFix/>
          </a:blip>
          <a:stretch>
            <a:fillRect/>
          </a:stretch>
        </p:blipFill>
        <p:spPr>
          <a:xfrm>
            <a:off x="3052300" y="1017725"/>
            <a:ext cx="2796609" cy="33304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Duplicación</a:t>
            </a:r>
            <a:endParaRPr/>
          </a:p>
        </p:txBody>
      </p:sp>
      <p:sp>
        <p:nvSpPr>
          <p:cNvPr id="190" name="Google Shape;190;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Enviar una misma publicación a distintas revistas, conferencias, etc no es considera ético</a:t>
            </a:r>
            <a:endParaRPr/>
          </a:p>
          <a:p>
            <a:pPr indent="0" lvl="0" marL="0" rtl="0" algn="l">
              <a:spcBef>
                <a:spcPts val="1600"/>
              </a:spcBef>
              <a:spcAft>
                <a:spcPts val="1600"/>
              </a:spcAft>
              <a:buNone/>
            </a:pPr>
            <a:r>
              <a:rPr lang="es"/>
              <a:t>	Excepción: Espacios de difusión con material no archivado (ej: pre-presentaciones, algunos </a:t>
            </a:r>
            <a:r>
              <a:rPr lang="es"/>
              <a:t>workshops</a:t>
            </a:r>
            <a:r>
              <a:rPr lang="es"/>
              <a:t>, algunas conferencias) donde la publicación en términos formales “no existe” (tema difuso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Conflictos de Interés</a:t>
            </a:r>
            <a:endParaRPr/>
          </a:p>
        </p:txBody>
      </p:sp>
      <p:sp>
        <p:nvSpPr>
          <p:cNvPr id="196" name="Google Shape;196;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Sesgos en la investigación producto de algún sponsor o patrocinante</a:t>
            </a:r>
            <a:endParaRPr/>
          </a:p>
          <a:p>
            <a:pPr indent="0" lvl="0" marL="0" rtl="0" algn="l">
              <a:spcBef>
                <a:spcPts val="1600"/>
              </a:spcBef>
              <a:spcAft>
                <a:spcPts val="0"/>
              </a:spcAft>
              <a:buNone/>
            </a:pPr>
            <a:r>
              <a:rPr lang="es"/>
              <a:t>Ej: </a:t>
            </a:r>
            <a:r>
              <a:rPr lang="es"/>
              <a:t>Estudio financiado por una empresa (</a:t>
            </a:r>
            <a:r>
              <a:rPr lang="es"/>
              <a:t>farmacéutica</a:t>
            </a:r>
            <a:r>
              <a:rPr lang="es"/>
              <a:t>, tecnológica, </a:t>
            </a:r>
            <a:r>
              <a:rPr lang="es"/>
              <a:t>alimentaria</a:t>
            </a:r>
            <a:r>
              <a:rPr lang="es"/>
              <a:t>, etc.) X sobre uno de sus productos demostrando la bondad del producto</a:t>
            </a:r>
            <a:endParaRPr/>
          </a:p>
          <a:p>
            <a:pPr indent="457200" lvl="0" marL="0" rtl="0" algn="l">
              <a:spcBef>
                <a:spcPts val="1600"/>
              </a:spcBef>
              <a:spcAft>
                <a:spcPts val="1600"/>
              </a:spcAft>
              <a:buNone/>
            </a:pPr>
            <a:r>
              <a:rPr lang="es"/>
              <a:t>“No revelar los conflictos de </a:t>
            </a:r>
            <a:r>
              <a:rPr lang="es"/>
              <a:t>interés</a:t>
            </a:r>
            <a:r>
              <a:rPr lang="es"/>
              <a:t> podría </a:t>
            </a:r>
            <a:r>
              <a:rPr lang="es"/>
              <a:t>afectar</a:t>
            </a:r>
            <a:r>
              <a:rPr lang="es"/>
              <a:t> la interpretación de los resultados” (revelarlos también)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Mala representación de los datos</a:t>
            </a:r>
            <a:endParaRPr/>
          </a:p>
        </p:txBody>
      </p:sp>
      <p:sp>
        <p:nvSpPr>
          <p:cNvPr id="202" name="Google Shape;202;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Representación sesgada, incompleta, selectiva de los resultados para soportar una hipótesis.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Manipulación de los datos</a:t>
            </a:r>
            <a:endParaRPr/>
          </a:p>
        </p:txBody>
      </p:sp>
      <p:sp>
        <p:nvSpPr>
          <p:cNvPr id="208" name="Google Shape;208;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Manipular datos para engañar a otros</a:t>
            </a:r>
            <a:endParaRPr/>
          </a:p>
          <a:p>
            <a:pPr indent="-317500" lvl="1" marL="914400" rtl="0" algn="l">
              <a:spcBef>
                <a:spcPts val="0"/>
              </a:spcBef>
              <a:spcAft>
                <a:spcPts val="0"/>
              </a:spcAft>
              <a:buSzPts val="1400"/>
              <a:buChar char="-"/>
            </a:pPr>
            <a:r>
              <a:rPr lang="es"/>
              <a:t>Viola </a:t>
            </a:r>
            <a:r>
              <a:rPr lang="es"/>
              <a:t>estándares</a:t>
            </a:r>
            <a:r>
              <a:rPr lang="es"/>
              <a:t> de lo que se considera </a:t>
            </a:r>
            <a:r>
              <a:rPr lang="es"/>
              <a:t>estándares</a:t>
            </a:r>
            <a:r>
              <a:rPr lang="es"/>
              <a:t> profesionales </a:t>
            </a:r>
            <a:r>
              <a:rPr lang="es"/>
              <a:t>estándares</a:t>
            </a:r>
            <a:r>
              <a:rPr lang="es"/>
              <a:t> en ciencia</a:t>
            </a:r>
            <a:endParaRPr/>
          </a:p>
          <a:p>
            <a:pPr indent="-317500" lvl="1" marL="914400" rtl="0" algn="l">
              <a:spcBef>
                <a:spcPts val="0"/>
              </a:spcBef>
              <a:spcAft>
                <a:spcPts val="0"/>
              </a:spcAft>
              <a:buSzPts val="1400"/>
              <a:buChar char="-"/>
            </a:pPr>
            <a:r>
              <a:rPr lang="es"/>
              <a:t>No respeta las tres obligaciones</a:t>
            </a:r>
            <a:endParaRPr/>
          </a:p>
          <a:p>
            <a:pPr indent="-342900" lvl="0" marL="457200" rtl="0" algn="l">
              <a:spcBef>
                <a:spcPts val="0"/>
              </a:spcBef>
              <a:spcAft>
                <a:spcPts val="0"/>
              </a:spcAft>
              <a:buSzPts val="1800"/>
              <a:buChar char="-"/>
            </a:pPr>
            <a:r>
              <a:rPr lang="es"/>
              <a:t>Lleva a conclusiones erróneas por parte de colegas</a:t>
            </a:r>
            <a:endParaRPr/>
          </a:p>
          <a:p>
            <a:pPr indent="-342900" lvl="0" marL="457200" rtl="0" algn="l">
              <a:spcBef>
                <a:spcPts val="0"/>
              </a:spcBef>
              <a:spcAft>
                <a:spcPts val="0"/>
              </a:spcAft>
              <a:buSzPts val="1800"/>
              <a:buChar char="-"/>
            </a:pPr>
            <a:r>
              <a:rPr lang="es"/>
              <a:t>Potencialmente impide progreso</a:t>
            </a:r>
            <a:endParaRPr/>
          </a:p>
          <a:p>
            <a:pPr indent="-342900" lvl="0" marL="457200" rtl="0" algn="l">
              <a:spcBef>
                <a:spcPts val="0"/>
              </a:spcBef>
              <a:spcAft>
                <a:spcPts val="0"/>
              </a:spcAft>
              <a:buSzPts val="1800"/>
              <a:buChar char="-"/>
            </a:pPr>
            <a:r>
              <a:rPr lang="es"/>
              <a:t>Indirectamente puede implicar desgaste de recursos, afectar otras investigaciones</a:t>
            </a:r>
            <a:endParaRPr/>
          </a:p>
          <a:p>
            <a:pPr indent="-342900" lvl="0" marL="457200" rtl="0" algn="l">
              <a:spcBef>
                <a:spcPts val="0"/>
              </a:spcBef>
              <a:spcAft>
                <a:spcPts val="0"/>
              </a:spcAft>
              <a:buSzPts val="1800"/>
              <a:buChar char="-"/>
            </a:pPr>
            <a:r>
              <a:rPr lang="es"/>
              <a:t>Afecta</a:t>
            </a:r>
            <a:r>
              <a:rPr lang="es"/>
              <a:t> la autoridad e integridad como investigador</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Consecuencias</a:t>
            </a:r>
            <a:endParaRPr/>
          </a:p>
        </p:txBody>
      </p:sp>
      <p:sp>
        <p:nvSpPr>
          <p:cNvPr id="214" name="Google Shape;214;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Las violaciones éticas en algún momento salen a la luz</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Algunas recomendaciones</a:t>
            </a:r>
            <a:endParaRPr/>
          </a:p>
        </p:txBody>
      </p:sp>
      <p:sp>
        <p:nvSpPr>
          <p:cNvPr id="220" name="Google Shape;220;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s"/>
              <a:t>Mantener un buen registro de los datos</a:t>
            </a:r>
            <a:endParaRPr/>
          </a:p>
          <a:p>
            <a:pPr indent="-342900" lvl="0" marL="457200" rtl="0" algn="l">
              <a:spcBef>
                <a:spcPts val="0"/>
              </a:spcBef>
              <a:spcAft>
                <a:spcPts val="0"/>
              </a:spcAft>
              <a:buSzPts val="1800"/>
              <a:buChar char="-"/>
            </a:pPr>
            <a:r>
              <a:rPr lang="es"/>
              <a:t>Mantener un buen registro del proceso de investigación (documentación)</a:t>
            </a:r>
            <a:endParaRPr/>
          </a:p>
          <a:p>
            <a:pPr indent="-342900" lvl="0" marL="457200" rtl="0" algn="l">
              <a:spcBef>
                <a:spcPts val="0"/>
              </a:spcBef>
              <a:spcAft>
                <a:spcPts val="0"/>
              </a:spcAft>
              <a:buSzPts val="1800"/>
              <a:buChar char="-"/>
            </a:pPr>
            <a:r>
              <a:rPr lang="es"/>
              <a:t>Mantener un buen registro de la literatura que revisamos</a:t>
            </a:r>
            <a:endParaRPr/>
          </a:p>
          <a:p>
            <a:pPr indent="-342900" lvl="0" marL="457200" rtl="0" algn="l">
              <a:spcBef>
                <a:spcPts val="0"/>
              </a:spcBef>
              <a:spcAft>
                <a:spcPts val="0"/>
              </a:spcAft>
              <a:buSzPts val="1800"/>
              <a:buChar char="-"/>
            </a:pPr>
            <a:r>
              <a:rPr lang="es"/>
              <a:t>Citar, citar, citar…. (en reportes, presentaciones, etc.)</a:t>
            </a:r>
            <a:endParaRPr/>
          </a:p>
          <a:p>
            <a:pPr indent="-342900" lvl="0" marL="457200" rtl="0" algn="l">
              <a:spcBef>
                <a:spcPts val="0"/>
              </a:spcBef>
              <a:spcAft>
                <a:spcPts val="0"/>
              </a:spcAft>
              <a:buSzPts val="1800"/>
              <a:buChar char="-"/>
            </a:pPr>
            <a:r>
              <a:rPr lang="es"/>
              <a:t>No dejar lo importante para el último</a:t>
            </a:r>
            <a:endParaRPr/>
          </a:p>
          <a:p>
            <a:pPr indent="-317500" lvl="1" marL="914400" rtl="0" algn="l">
              <a:spcBef>
                <a:spcPts val="0"/>
              </a:spcBef>
              <a:spcAft>
                <a:spcPts val="0"/>
              </a:spcAft>
              <a:buSzPts val="1400"/>
              <a:buChar char="-"/>
            </a:pPr>
            <a:r>
              <a:rPr lang="es"/>
              <a:t>Apuro</a:t>
            </a:r>
            <a:endParaRPr/>
          </a:p>
          <a:p>
            <a:pPr indent="-317500" lvl="1" marL="914400" rtl="0" algn="l">
              <a:spcBef>
                <a:spcPts val="0"/>
              </a:spcBef>
              <a:spcAft>
                <a:spcPts val="0"/>
              </a:spcAft>
              <a:buSzPts val="1400"/>
              <a:buChar char="-"/>
            </a:pPr>
            <a:r>
              <a:rPr lang="es"/>
              <a:t>Presión</a:t>
            </a:r>
            <a:endParaRPr/>
          </a:p>
          <a:p>
            <a:pPr indent="-317500" lvl="1" marL="914400" rtl="0" algn="l">
              <a:spcBef>
                <a:spcPts val="0"/>
              </a:spcBef>
              <a:spcAft>
                <a:spcPts val="0"/>
              </a:spcAft>
              <a:buSzPts val="1400"/>
              <a:buChar char="-"/>
            </a:pPr>
            <a:r>
              <a:rPr lang="es"/>
              <a:t>Stress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Temas relacionados</a:t>
            </a:r>
            <a:endParaRPr/>
          </a:p>
        </p:txBody>
      </p:sp>
      <p:sp>
        <p:nvSpPr>
          <p:cNvPr id="226" name="Google Shape;226;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Plagio y autoplagio</a:t>
            </a:r>
            <a:endParaRPr/>
          </a:p>
          <a:p>
            <a:pPr indent="0" lvl="0" marL="0" rtl="0" algn="l">
              <a:spcBef>
                <a:spcPts val="1600"/>
              </a:spcBef>
              <a:spcAft>
                <a:spcPts val="0"/>
              </a:spcAft>
              <a:buNone/>
            </a:pPr>
            <a:r>
              <a:rPr lang="es"/>
              <a:t>Fabricación, falseo de datos y resultados</a:t>
            </a:r>
            <a:endParaRPr/>
          </a:p>
          <a:p>
            <a:pPr indent="0" lvl="0" marL="0" rtl="0" algn="l">
              <a:spcBef>
                <a:spcPts val="1600"/>
              </a:spcBef>
              <a:spcAft>
                <a:spcPts val="0"/>
              </a:spcAft>
              <a:buNone/>
            </a:pPr>
            <a:r>
              <a:rPr lang="es"/>
              <a:t>Revistas depredadoras</a:t>
            </a:r>
            <a:endParaRPr/>
          </a:p>
          <a:p>
            <a:pPr indent="0" lvl="0" marL="0" rtl="0" algn="l">
              <a:spcBef>
                <a:spcPts val="1600"/>
              </a:spcBef>
              <a:spcAft>
                <a:spcPts val="0"/>
              </a:spcAft>
              <a:buNone/>
            </a:pPr>
            <a:r>
              <a:rPr lang="es"/>
              <a:t>Conflicto de intereses</a:t>
            </a:r>
            <a:endParaRPr/>
          </a:p>
          <a:p>
            <a:pPr indent="0" lvl="0" marL="0" rtl="0" algn="l">
              <a:spcBef>
                <a:spcPts val="1600"/>
              </a:spcBef>
              <a:spcAft>
                <a:spcPts val="0"/>
              </a:spcAft>
              <a:buNone/>
            </a:pPr>
            <a:r>
              <a:rPr lang="es"/>
              <a:t>Compromiso</a:t>
            </a:r>
            <a:endParaRPr/>
          </a:p>
          <a:p>
            <a:pPr indent="0" lvl="0" marL="0" rtl="0" algn="l">
              <a:spcBef>
                <a:spcPts val="1600"/>
              </a:spcBef>
              <a:spcAft>
                <a:spcPts val="0"/>
              </a:spcAft>
              <a:buNone/>
            </a:pPr>
            <a:r>
              <a:rPr lang="es"/>
              <a:t>Investigación patrocinada</a:t>
            </a:r>
            <a:endParaRPr/>
          </a:p>
          <a:p>
            <a:pPr indent="0" lvl="0" marL="0" rtl="0" algn="l">
              <a:spcBef>
                <a:spcPts val="1600"/>
              </a:spcBef>
              <a:spcAft>
                <a:spcPts val="0"/>
              </a:spcAft>
              <a:buNone/>
            </a:pPr>
            <a:r>
              <a:rPr lang="es"/>
              <a:t>Compartir datos</a:t>
            </a:r>
            <a:endParaRPr/>
          </a:p>
          <a:p>
            <a:pPr indent="0" lvl="0" marL="0" rtl="0" algn="l">
              <a:spcBef>
                <a:spcPts val="1600"/>
              </a:spcBef>
              <a:spcAft>
                <a:spcPts val="0"/>
              </a:spcAft>
              <a:buNone/>
            </a:pPr>
            <a:r>
              <a:rPr lang="es"/>
              <a:t>Investigación colaborativa</a:t>
            </a:r>
            <a:endParaRPr/>
          </a:p>
          <a:p>
            <a:pPr indent="0" lvl="0" marL="0" rtl="0" algn="l">
              <a:spcBef>
                <a:spcPts val="1600"/>
              </a:spcBef>
              <a:spcAft>
                <a:spcPts val="0"/>
              </a:spcAft>
              <a:buNone/>
            </a:pPr>
            <a:r>
              <a:rPr lang="es"/>
              <a:t>Autoría (crédito y responsabilidad. Contribuciones intelectuales sustanciales)</a:t>
            </a:r>
            <a:endParaRPr/>
          </a:p>
          <a:p>
            <a:pPr indent="0" lvl="0" marL="0" rtl="0" algn="l">
              <a:spcBef>
                <a:spcPts val="1600"/>
              </a:spcBef>
              <a:spcAft>
                <a:spcPts val="0"/>
              </a:spcAft>
              <a:buNone/>
            </a:pPr>
            <a:r>
              <a:rPr lang="es"/>
              <a:t>Reconocimientos</a:t>
            </a:r>
            <a:endParaRPr/>
          </a:p>
          <a:p>
            <a:pPr indent="0" lvl="0" marL="0" rtl="0" algn="l">
              <a:spcBef>
                <a:spcPts val="1600"/>
              </a:spcBef>
              <a:spcAft>
                <a:spcPts val="0"/>
              </a:spcAft>
              <a:buNone/>
            </a:pPr>
            <a:r>
              <a:rPr lang="es"/>
              <a:t>Derechos de autor</a:t>
            </a:r>
            <a:endParaRPr/>
          </a:p>
          <a:p>
            <a:pPr indent="0" lvl="0" marL="0" rtl="0" algn="l">
              <a:spcBef>
                <a:spcPts val="1600"/>
              </a:spcBef>
              <a:spcAft>
                <a:spcPts val="0"/>
              </a:spcAft>
              <a:buNone/>
            </a:pPr>
            <a:r>
              <a:rPr lang="es"/>
              <a:t>Afiliación</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