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d6ffc4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d6ffc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d6ffc48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d6ffc4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d6ffc48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d6ffc48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d6ffc48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d6ffc48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d6ffc48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d6ffc48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d6ffc48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d6ffc48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d6ffc48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d6ffc48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d6ffc48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d6ffc48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d6ffc48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4d6ffc48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d6ffc48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d6ffc48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d6ffc48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d6ffc48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d6ffc48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4d6ffc48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4d6ffc48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4d6ffc48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d6ffc48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4d6ffc48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4d6ffc48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4d6ffc48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4d6ffc48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4d6ffc48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d6ffc48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d6ffc48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d6ffc48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d6ffc48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4d6ffc48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4d6ffc48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c05d51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c05d51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c05d511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fc05d511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c05d5117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c05d511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c05d5117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c05d5117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fc05d5117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fc05d5117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c05d5117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fc05d5117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c05d5117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c05d5117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c05d5117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c05d5117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fc05d5117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fc05d5117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c05d5117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fc05d5117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c05d5117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fc05d5117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fc05d511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fc05d511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fc05d511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fc05d51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c05d511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fc05d511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ea51e87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ea51e87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ea51e87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ea51e8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ea51e87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ea51e87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ea51e87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ea51e87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ea51e87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ea51e8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fc05d5117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fc05d5117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c05d511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fc05d511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c05d51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fc05d51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fc05d511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fc05d511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fc05d511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fc05d511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fc05d511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fc05d511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fc05d511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fc05d511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fc05d5117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fc05d511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ea51e87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ea51e87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ea51e87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ea51e87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ea51e87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ea51e87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fc05d511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fc05d511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fc05d51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fc05d51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fc05d5117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fc05d5117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fc05d5117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fc05d5117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fc05d5117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fc05d5117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fc05d5117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fc05d5117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fc05d5117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fc05d5117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fc05d5117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fc05d5117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fc05d5117_2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fc05d5117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Relationship Id="rId4" Type="http://schemas.openxmlformats.org/officeDocument/2006/relationships/image" Target="../media/image22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General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(Overview)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Basado en </a:t>
            </a:r>
            <a:r>
              <a:rPr lang="es"/>
              <a:t>Capítulo</a:t>
            </a:r>
            <a:r>
              <a:rPr lang="es"/>
              <a:t> 1 de </a:t>
            </a:r>
            <a:r>
              <a:rPr lang="es"/>
              <a:t>Hernández, Fernández, &amp; Baptista (2010)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Investigación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Enfoques de investigación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cuantitativo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cualitativo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mixto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Conceptos básicos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Origen de un proyecto de investigación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se define investigación?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071550" y="1926625"/>
            <a:ext cx="7335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“La investigación es un conjunto de procesos sistemáticos, críticos y empíricos que se aplican al estudio de un fenómeno.” (Hernández, Fernández, &amp; Baptista, 2010, p.4)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453700" y="1154325"/>
            <a:ext cx="81498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buscar o generar conocimiento? 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Corrientes de pensamiento (ej: fenomenología, positivismo, empirismo, postpositivismo, </a:t>
            </a:r>
            <a:r>
              <a:rPr lang="es">
                <a:solidFill>
                  <a:schemeClr val="dk1"/>
                </a:solidFill>
              </a:rPr>
              <a:t>interpretacionismo</a:t>
            </a:r>
            <a:r>
              <a:rPr lang="es"/>
              <a:t>, reduccionismo, determinismo) =&gt; Metateorías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Marcos interpretativos (ej: etnografía, constructivismo)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">
                <a:solidFill>
                  <a:schemeClr val="dk1"/>
                </a:solidFill>
              </a:rPr>
              <a:t>Lectura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Estas se expresan/polarizan hoy principalmente a través de  dos aproximaciones: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cuantitativo (positivismo, postpositivismo, neopositivismo)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cualitativo </a:t>
            </a:r>
            <a:r>
              <a:rPr lang="es">
                <a:solidFill>
                  <a:schemeClr val="dk1"/>
                </a:solidFill>
              </a:rPr>
              <a:t>(interpretacionismo, interpretativismo, constructivismo, fenomenología, naturalismo)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tercera aproximación: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Enfoque mixto (postpositivismo, pragmatismo, realismo crítico, complexity theory)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Enfoques de investigación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generación de conocimiento, los enfoques cualitativos y cuantitativos siguen procesos: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Rigurosos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Cuidadosos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Metódicos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Empíricos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Lineamientos generales de ambos enfoques según Grinnell (1997)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Observación y evaluación de fenómenos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Suposiciones o ideas como consecuencia de la observación y evaluaciones realizadas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Demostración del grado en que las suposiciones o ideas tienen fundamento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Revisión de suposiciones o ideas sobre la base de pruebas o análisis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Proposición de nuevas observaciones y evaluaciones para esclarecer, </a:t>
            </a:r>
            <a:r>
              <a:rPr lang="es"/>
              <a:t>modificar y fundamentar las suposiciones o ideas, o bien para generar otras  (Hernández, Fernández, &amp; Baptista, 2010, p.4)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Cada enfoque tiene sus propias características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175" y="1125850"/>
            <a:ext cx="250999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5097175" y="14519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</a:t>
            </a:r>
            <a:r>
              <a:rPr lang="es">
                <a:solidFill>
                  <a:schemeClr val="dk1"/>
                </a:solidFill>
              </a:rPr>
              <a:t>Hernández, Fernández y Baptista (2010)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5097175" y="14519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25" y="1154675"/>
            <a:ext cx="396167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4738775" y="3904125"/>
            <a:ext cx="3961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lo general a lo particular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investigación: Cuantitativo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1613650" y="4449700"/>
            <a:ext cx="64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02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</p:txBody>
      </p:sp>
      <p:sp>
        <p:nvSpPr>
          <p:cNvPr id="113" name="Google Shape;113;p22"/>
          <p:cNvSpPr txBox="1"/>
          <p:nvPr/>
        </p:nvSpPr>
        <p:spPr>
          <a:xfrm>
            <a:off x="5097175" y="14519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04215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4738775" y="3904125"/>
            <a:ext cx="3961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lo particular a lo general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investigación: Cualitativo</a:t>
            </a:r>
            <a:endParaRPr/>
          </a:p>
        </p:txBody>
      </p:sp>
      <p:sp>
        <p:nvSpPr>
          <p:cNvPr id="121" name="Google Shape;121;p23"/>
          <p:cNvSpPr txBox="1"/>
          <p:nvPr/>
        </p:nvSpPr>
        <p:spPr>
          <a:xfrm>
            <a:off x="488975" y="4319350"/>
            <a:ext cx="770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525" y="1073351"/>
            <a:ext cx="4504238" cy="32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</a:t>
            </a:r>
            <a:endParaRPr/>
          </a:p>
        </p:txBody>
      </p:sp>
      <p:sp>
        <p:nvSpPr>
          <p:cNvPr id="128" name="Google Shape;128;p24"/>
          <p:cNvSpPr txBox="1"/>
          <p:nvPr/>
        </p:nvSpPr>
        <p:spPr>
          <a:xfrm>
            <a:off x="5097175" y="14519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 b="0" l="0" r="0" t="15269"/>
          <a:stretch/>
        </p:blipFill>
        <p:spPr>
          <a:xfrm>
            <a:off x="311700" y="2527325"/>
            <a:ext cx="4531850" cy="8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00" y="1017725"/>
            <a:ext cx="462490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sp>
        <p:nvSpPr>
          <p:cNvPr id="142" name="Google Shape;142;p26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33356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802789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7725"/>
            <a:ext cx="4802801" cy="188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4525550" cy="177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05975"/>
            <a:ext cx="4525551" cy="365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13000"/>
            <a:ext cx="5248425" cy="21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5100"/>
            <a:ext cx="5248424" cy="3421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Enfoques de Investigación (Diferencias)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35625"/>
            <a:ext cx="4688551" cy="18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25100"/>
            <a:ext cx="4688550" cy="36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Enfoques de Investigación (Comparación Etapas)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25" y="1154900"/>
            <a:ext cx="519785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/>
          <p:nvPr/>
        </p:nvSpPr>
        <p:spPr>
          <a:xfrm>
            <a:off x="5835200" y="2216725"/>
            <a:ext cx="27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Ejercicio</a:t>
            </a:r>
            <a:endParaRPr b="1"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Supongamos que un(a) estudiante se encuentra interesado(a) en saber qué factores intervienen para que una persona sea definida y percibida como “atractiva y conquistadora” (que cautiva a individuos del género opuesto y logra que se sientan atraídos hacia él o ella y se enamoren). Entonces, decide llevar a cabo un estudio (su idea para investigar) en su escuela.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¿Cómo lo harían?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1041700" y="3677600"/>
            <a:ext cx="735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Tomado de Hernández, Fernández y Baptista (2010, p.13-14)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195" name="Google Shape;19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Basado en Sousa (2010)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/>
        </p:nvSpPr>
        <p:spPr>
          <a:xfrm>
            <a:off x="898050" y="1715700"/>
            <a:ext cx="73479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“La ciencia es la actividad rigurosa y consumidora de tiempo a través de la cual el mundo es sistemáticamente investigado</a:t>
            </a:r>
            <a:r>
              <a:rPr lang="es" sz="2400"/>
              <a:t>, descrito, y explicado – aunque es probable que uno considere la ciencia como todos los resultados que son producidos por esta actividad” (Sousa, 2010, p. 457).</a:t>
            </a:r>
            <a:endParaRPr sz="2400"/>
          </a:p>
        </p:txBody>
      </p:sp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25" y="1059675"/>
            <a:ext cx="4315850" cy="34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5"/>
          <p:cNvSpPr txBox="1"/>
          <p:nvPr/>
        </p:nvSpPr>
        <p:spPr>
          <a:xfrm>
            <a:off x="311700" y="4497975"/>
            <a:ext cx="5206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http://www.practicallyscience.com/category/timelines/</a:t>
            </a:r>
            <a:endParaRPr/>
          </a:p>
        </p:txBody>
      </p:sp>
      <p:sp>
        <p:nvSpPr>
          <p:cNvPr id="209" name="Google Shape;209;p35"/>
          <p:cNvSpPr txBox="1"/>
          <p:nvPr/>
        </p:nvSpPr>
        <p:spPr>
          <a:xfrm>
            <a:off x="5832300" y="16084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https://www.historiatimelines.com/shop/timeline-history-wall-charts/history-of-science-timeline/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215" name="Google Shape;215;p36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Antes de Cristo: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Siglo 6to A.C.: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>
                <a:solidFill>
                  <a:schemeClr val="dk1"/>
                </a:solidFill>
              </a:rPr>
              <a:t>Pre-socratic philosophers (</a:t>
            </a:r>
            <a:r>
              <a:rPr lang="es"/>
              <a:t>ej.: </a:t>
            </a:r>
            <a:r>
              <a:rPr lang="es"/>
              <a:t>Thales, Pythagoras, Anaximander, Anaximenes Heraclitus, Parmenides). Principales responsables de la transición del “mito” a la “razón” (logos).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Cambio de paradigma. Abandono de explicaciones teológicas y sobrenaturales sobre el mundo.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Estudio del mundo a través del razonamiento lógico o filosofía.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Siglo 5to y 4to A.C.: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Sócrates  </a:t>
            </a:r>
            <a:r>
              <a:rPr lang="es">
                <a:solidFill>
                  <a:schemeClr val="dk1"/>
                </a:solidFill>
              </a:rPr>
              <a:t>-&gt; </a:t>
            </a:r>
            <a:r>
              <a:rPr lang="es"/>
              <a:t>Platón </a:t>
            </a:r>
            <a:r>
              <a:rPr lang="es">
                <a:solidFill>
                  <a:schemeClr val="dk1"/>
                </a:solidFill>
              </a:rPr>
              <a:t>-&gt; </a:t>
            </a:r>
            <a:r>
              <a:rPr lang="es"/>
              <a:t> </a:t>
            </a:r>
            <a:r>
              <a:rPr lang="es"/>
              <a:t>Aristóteles: Cuestionar el mundo que los rodea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Democritus -&gt; “Atomismo” (El mundo está conformado meramente por átomos y espacio vacío) -&gt; Materialismo (El mundo es materia física)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221" name="Google Shape;221;p37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Edad Media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Entre el siglo 11 y 14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E</a:t>
            </a:r>
            <a:r>
              <a:rPr lang="es"/>
              <a:t>scolasticismo </a:t>
            </a:r>
            <a:r>
              <a:rPr lang="es"/>
              <a:t>(combinación teología y filosofía)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Subordinación de la razón a la fé.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Saint Thomas Aquinas (Aristotelian metaphysics) (Siglo 13)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Principalmente en monasterios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Luego se mueve a las primeras universidades (ej: Universidad de Constantinopla - entre siglo 9 y 14)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227" name="Google Shape;227;p38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s"/>
              <a:t>Siglo 16 al presente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Modernidad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Proposición del método inductivo (Sir Francis Bacon) -&gt; Método científico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Usado inicialmente en las ciencias naturales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Postulados universales a partir de múltiples observaciones y experimentos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Investigaciones previas a este periodo son entonces consideradas como pre-científicas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Inducción (particular -&gt; general) o Deducción (general -&gt;particular)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Tradición empírica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Privilegia métodos cuantitativos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Dos sub épocas distintivas (Razón e Ilustración)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233" name="Google Shape;233;p39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Etapa de la Razón (Siglo 17)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El término de la época medieval (cuando la fé dirigía la razón)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Racionalismo (razón en vez de la experiencia como fuente primaria de conocimiento e.g. Descartes)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sp>
        <p:nvSpPr>
          <p:cNvPr id="239" name="Google Shape;239;p40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Etapa de ilustración (Siglo 18)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Tradición </a:t>
            </a:r>
            <a:r>
              <a:rPr lang="es"/>
              <a:t>empírica (ej.: John Locke, David Hume)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Si bien opuesta al racionalismo, no lo desconoce y lo usa cuando amerita.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Siglo 19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Elaboraciones del racionalismo y el empirismo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Idealismo (Hegel) </a:t>
            </a:r>
            <a:endParaRPr/>
          </a:p>
          <a:p>
            <a: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“El mundo es meramente una composición de ideas (i.e., el mundo existe primariamente como conciencia humana o </a:t>
            </a:r>
            <a:r>
              <a:rPr lang="es"/>
              <a:t>espíritu</a:t>
            </a:r>
            <a:r>
              <a:rPr lang="es"/>
              <a:t>)” (Sousa, 2010, p. 458)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Positivismo (Comte y Stuart Mill)</a:t>
            </a:r>
            <a:endParaRPr/>
          </a:p>
          <a:p>
            <a: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“Percepción como la única fuente de conocimiento”  </a:t>
            </a:r>
            <a:r>
              <a:rPr lang="es">
                <a:solidFill>
                  <a:schemeClr val="dk1"/>
                </a:solidFill>
              </a:rPr>
              <a:t>(Sousa, 2010, p. 458)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/>
        </p:nvSpPr>
        <p:spPr>
          <a:xfrm>
            <a:off x="311700" y="13938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Siglos 19 y 20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Avances en ciencias naturales principalmente derivadas desde una mirada positivista/empírica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Física: Maxwell - Electromagnetismo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Química: </a:t>
            </a:r>
            <a:r>
              <a:rPr lang="es"/>
              <a:t>Curie </a:t>
            </a:r>
            <a:r>
              <a:rPr lang="es"/>
              <a:t>- Polonio y radio (radioactividad)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Biología: Darwin - </a:t>
            </a:r>
            <a:r>
              <a:rPr lang="es"/>
              <a:t>Teoría</a:t>
            </a:r>
            <a:r>
              <a:rPr lang="es"/>
              <a:t> de la evolución por selección natural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Influencia del progreso en las ciencias naturales en las ciencias sociales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Diseminación gradual del positivismo a prácticamente todos los campos de las ciencias sociales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/>
        </p:nvSpPr>
        <p:spPr>
          <a:xfrm>
            <a:off x="311700" y="1017725"/>
            <a:ext cx="8520600" cy="3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Etapa Postmedieval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Siglo 20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Positivismo es desafiado</a:t>
            </a:r>
            <a:endParaRPr/>
          </a:p>
          <a:p>
            <a: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Críticas de la filosofía sobre la robustez del positivismo en las ciencias sociales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Respuestas al positivismo:</a:t>
            </a:r>
            <a:endParaRPr/>
          </a:p>
          <a:p>
            <a: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Postmodernismo/postestructuralismo y el socio constructivismo/construccionismo (ej., Kuhn, Koyré, Feyerabend)</a:t>
            </a:r>
            <a:endParaRPr/>
          </a:p>
          <a:p>
            <a: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Construcción discursiva del mundo</a:t>
            </a:r>
            <a:endParaRPr/>
          </a:p>
          <a:p>
            <a: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Realismo (ej., Bhaskar, Harré)</a:t>
            </a:r>
            <a:endParaRPr/>
          </a:p>
          <a:p>
            <a: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Independencia del mundo de la mente</a:t>
            </a:r>
            <a:endParaRPr/>
          </a:p>
          <a:p>
            <a: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Bases </a:t>
            </a:r>
            <a:r>
              <a:rPr lang="es"/>
              <a:t>filosóficas</a:t>
            </a:r>
            <a:r>
              <a:rPr lang="es"/>
              <a:t> influenciadas por el Idealismo Trascendental </a:t>
            </a:r>
            <a:r>
              <a:rPr lang="es"/>
              <a:t>de</a:t>
            </a:r>
            <a:r>
              <a:rPr lang="es"/>
              <a:t> Immanuel Kant (1781)</a:t>
            </a:r>
            <a:endParaRPr/>
          </a:p>
          <a:p>
            <a: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“la experiencia del mundo es sobre </a:t>
            </a:r>
            <a:r>
              <a:rPr lang="es"/>
              <a:t>cómo</a:t>
            </a:r>
            <a:r>
              <a:rPr lang="es"/>
              <a:t> el mundo se presenta a los seres humanos, no como el mundo es en sí mismo”</a:t>
            </a:r>
            <a:endParaRPr/>
          </a:p>
          <a:p>
            <a: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Distinción entre las cosas en </a:t>
            </a:r>
            <a:r>
              <a:rPr lang="es"/>
              <a:t>sí</a:t>
            </a:r>
            <a:r>
              <a:rPr lang="es"/>
              <a:t> (“noumena”) y la percepción de estas (“phenomena”)</a:t>
            </a:r>
            <a:endParaRPr/>
          </a:p>
          <a:p>
            <a: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Diferencias </a:t>
            </a:r>
            <a:r>
              <a:rPr lang="es"/>
              <a:t>ontológicas</a:t>
            </a:r>
            <a:r>
              <a:rPr lang="es"/>
              <a:t> con el positivismo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>
                <a:solidFill>
                  <a:schemeClr val="dk1"/>
                </a:solidFill>
              </a:rPr>
              <a:t>Construcción discursiva del mundo VS Independencia del mundo de la mente</a:t>
            </a:r>
            <a:endParaRPr>
              <a:solidFill>
                <a:schemeClr val="dk1"/>
              </a:solidFill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Aspectos Históricos</a:t>
            </a:r>
            <a:endParaRPr b="1"/>
          </a:p>
        </p:txBody>
      </p:sp>
      <p:pic>
        <p:nvPicPr>
          <p:cNvPr id="263" name="Google Shape;2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175" y="1156325"/>
            <a:ext cx="24003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640425" y="4242425"/>
            <a:ext cx="404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del Ciclo de Kuhn (Estructura de las Revoluciones Científicas)</a:t>
            </a:r>
            <a:endParaRPr/>
          </a:p>
        </p:txBody>
      </p:sp>
      <p:sp>
        <p:nvSpPr>
          <p:cNvPr id="265" name="Google Shape;265;p44"/>
          <p:cNvSpPr txBox="1"/>
          <p:nvPr/>
        </p:nvSpPr>
        <p:spPr>
          <a:xfrm>
            <a:off x="6110600" y="750725"/>
            <a:ext cx="29073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Exigencia del paradigma hasta sus límites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Acumulación de Anomalías quiebres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Fé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Comunidad Científica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Arriesgados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Conservadores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Efecto Paradigma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Parálisis Paradigmática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Cambio Paradigmático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Revolución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Regla de Retorno a Cero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Foráneos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Pioneros</a:t>
            </a:r>
            <a:endParaRPr/>
          </a:p>
        </p:txBody>
      </p:sp>
      <p:pic>
        <p:nvPicPr>
          <p:cNvPr id="266" name="Google Shape;26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75" y="1156313"/>
            <a:ext cx="1714500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Un poco de filosofía ...</a:t>
            </a:r>
            <a:endParaRPr b="1"/>
          </a:p>
        </p:txBody>
      </p:sp>
      <p:sp>
        <p:nvSpPr>
          <p:cNvPr id="272" name="Google Shape;27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Basado en Sousa (2010) y Lor (2011)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sp>
        <p:nvSpPr>
          <p:cNvPr id="278" name="Google Shape;278;p46"/>
          <p:cNvSpPr txBox="1"/>
          <p:nvPr/>
        </p:nvSpPr>
        <p:spPr>
          <a:xfrm>
            <a:off x="1285875" y="1347850"/>
            <a:ext cx="73371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Supuestos subyacentes sobre los que descansan las decisiones metodológicas, de diseño, métodos y técnicas para un determinado proyecto (Lor, 2011)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‘‘lo que se encuentra más allá o fuera de cualquier teoría sustantiva, investigación empírica o práctica humana’’ (Fleetwood &amp; Ackroyd, 2004a).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Metateorias son (Hjorland, 2005)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amplias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menos específicas que las teorías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teorías sobre la descripción, investigación, análisis o críticas de teorías en un dominio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paradigmas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tradiciones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escuelas de pensamiento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sistema de creencias del investigador, visión del mundo  (Guba and Lincoln, 1994)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La parte visible del Iceberg:</a:t>
            </a:r>
            <a:r>
              <a:rPr b="1" lang="es"/>
              <a:t> Metodologías, Métodos</a:t>
            </a:r>
            <a:endParaRPr b="1"/>
          </a:p>
        </p:txBody>
      </p:sp>
      <p:sp>
        <p:nvSpPr>
          <p:cNvPr id="284" name="Google Shape;284;p47"/>
          <p:cNvSpPr txBox="1"/>
          <p:nvPr/>
        </p:nvSpPr>
        <p:spPr>
          <a:xfrm>
            <a:off x="3454825" y="1347850"/>
            <a:ext cx="51681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Metateoría (muy general): El paradigma de investigación (Pickard, 2007). Comprende las dimensiones sociológicas, teleológicas, epistemológicas, ontológicas.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Metodología (general)</a:t>
            </a:r>
            <a:r>
              <a:rPr lang="es"/>
              <a:t>: análisis reflexivo y desarrollo de los “comoS</a:t>
            </a:r>
            <a:r>
              <a:rPr lang="es"/>
              <a:t>”</a:t>
            </a:r>
            <a:r>
              <a:rPr lang="es"/>
              <a:t> teorizar, observar, analizar e interpretar. </a:t>
            </a:r>
            <a:r>
              <a:rPr lang="es">
                <a:solidFill>
                  <a:schemeClr val="dk1"/>
                </a:solidFill>
              </a:rPr>
              <a:t>Dervin (2003)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Método (específico): Los “comoS” específicos. Técnicas guíadas por consideraciones metodológicas Dervin (2003). Set de herramientas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75" y="1492655"/>
            <a:ext cx="4175550" cy="29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Dimensiones en lo más profundo del Iceberg</a:t>
            </a:r>
            <a:endParaRPr b="1"/>
          </a:p>
        </p:txBody>
      </p:sp>
      <p:sp>
        <p:nvSpPr>
          <p:cNvPr id="291" name="Google Shape;291;p48"/>
          <p:cNvSpPr txBox="1"/>
          <p:nvPr/>
        </p:nvSpPr>
        <p:spPr>
          <a:xfrm>
            <a:off x="3454825" y="1347850"/>
            <a:ext cx="51681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S</a:t>
            </a:r>
            <a:r>
              <a:rPr lang="es">
                <a:solidFill>
                  <a:schemeClr val="dk1"/>
                </a:solidFill>
              </a:rPr>
              <a:t>ociológicas: De donde venimos como investigadores 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Teleológicas: Que es lo que queremos alcanzar a través de nuestra investigación (finalidad, objetivo)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Ontológicas: Cual es un objeto de estudio apropiado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Epistemológicas: Cómo podemos llegar a conocerlo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">
                <a:solidFill>
                  <a:schemeClr val="dk1"/>
                </a:solidFill>
              </a:rPr>
              <a:t>Ética: Qué es correcto/incorrecto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(Lor, 2011)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75" y="1492655"/>
            <a:ext cx="4175550" cy="293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sp>
        <p:nvSpPr>
          <p:cNvPr id="298" name="Google Shape;298;p49"/>
          <p:cNvSpPr txBox="1"/>
          <p:nvPr/>
        </p:nvSpPr>
        <p:spPr>
          <a:xfrm>
            <a:off x="1285875" y="1735150"/>
            <a:ext cx="73371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¿Por qué son importantes?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sp>
        <p:nvSpPr>
          <p:cNvPr id="304" name="Google Shape;304;p50"/>
          <p:cNvSpPr txBox="1"/>
          <p:nvPr/>
        </p:nvSpPr>
        <p:spPr>
          <a:xfrm>
            <a:off x="1285875" y="1735150"/>
            <a:ext cx="73371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¿Por qué son importantes?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Ej: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En proyectos internacionales, interdisciplinarios, de aplicación en una disciplina distinta a la propia, etc.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permite anticipar riesgos, establecer un marco de trabajo común, etc.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10" name="Google Shape;31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63" y="1008625"/>
            <a:ext cx="5764224" cy="31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1"/>
          <p:cNvSpPr txBox="1"/>
          <p:nvPr/>
        </p:nvSpPr>
        <p:spPr>
          <a:xfrm>
            <a:off x="244200" y="4136175"/>
            <a:ext cx="88323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22222"/>
                </a:solidFill>
                <a:highlight>
                  <a:srgbClr val="FFFFFF"/>
                </a:highlight>
              </a:rPr>
              <a:t>Aitken, S. C., &amp; Herman, T. (2009). </a:t>
            </a:r>
            <a:r>
              <a:rPr i="1" lang="es" sz="1000">
                <a:solidFill>
                  <a:srgbClr val="222222"/>
                </a:solidFill>
                <a:highlight>
                  <a:srgbClr val="FFFFFF"/>
                </a:highlight>
              </a:rPr>
              <a:t>Literature review on qualitative methods and standards for engaging and studying independent children in the developing world</a:t>
            </a:r>
            <a:r>
              <a:rPr lang="es" sz="1000">
                <a:solidFill>
                  <a:srgbClr val="222222"/>
                </a:solidFill>
                <a:highlight>
                  <a:srgbClr val="FFFFFF"/>
                </a:highlight>
              </a:rPr>
              <a:t> (No. inwopa09/63).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100" y="1131075"/>
            <a:ext cx="5061825" cy="38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23" name="Google Shape;3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100" y="2471300"/>
            <a:ext cx="1246350" cy="12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3450" y="2471300"/>
            <a:ext cx="1246350" cy="12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1975" y="2471300"/>
            <a:ext cx="1246350" cy="12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2325" y="2562475"/>
            <a:ext cx="1246350" cy="1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3"/>
          <p:cNvSpPr txBox="1"/>
          <p:nvPr/>
        </p:nvSpPr>
        <p:spPr>
          <a:xfrm>
            <a:off x="1322150" y="3870750"/>
            <a:ext cx="10563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Ontología</a:t>
            </a:r>
            <a:endParaRPr b="1"/>
          </a:p>
        </p:txBody>
      </p:sp>
      <p:sp>
        <p:nvSpPr>
          <p:cNvPr id="328" name="Google Shape;328;p53"/>
          <p:cNvSpPr txBox="1"/>
          <p:nvPr/>
        </p:nvSpPr>
        <p:spPr>
          <a:xfrm>
            <a:off x="2723450" y="3870750"/>
            <a:ext cx="1512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Epistemología</a:t>
            </a:r>
            <a:endParaRPr b="1"/>
          </a:p>
        </p:txBody>
      </p:sp>
      <p:sp>
        <p:nvSpPr>
          <p:cNvPr id="329" name="Google Shape;329;p53"/>
          <p:cNvSpPr txBox="1"/>
          <p:nvPr/>
        </p:nvSpPr>
        <p:spPr>
          <a:xfrm>
            <a:off x="4421975" y="3870750"/>
            <a:ext cx="1512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Metodología</a:t>
            </a:r>
            <a:endParaRPr b="1"/>
          </a:p>
        </p:txBody>
      </p:sp>
      <p:sp>
        <p:nvSpPr>
          <p:cNvPr id="330" name="Google Shape;330;p53"/>
          <p:cNvSpPr txBox="1"/>
          <p:nvPr/>
        </p:nvSpPr>
        <p:spPr>
          <a:xfrm>
            <a:off x="6288875" y="3870750"/>
            <a:ext cx="1512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Etiología</a:t>
            </a:r>
            <a:endParaRPr b="1"/>
          </a:p>
        </p:txBody>
      </p:sp>
      <p:sp>
        <p:nvSpPr>
          <p:cNvPr id="331" name="Google Shape;331;p53"/>
          <p:cNvSpPr txBox="1"/>
          <p:nvPr>
            <p:ph type="title"/>
          </p:nvPr>
        </p:nvSpPr>
        <p:spPr>
          <a:xfrm>
            <a:off x="850500" y="1503750"/>
            <a:ext cx="726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Principios/Fundamentos/Pilares/Supuestos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37" name="Google Shape;3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25" y="1568125"/>
            <a:ext cx="1246350" cy="1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4"/>
          <p:cNvSpPr txBox="1"/>
          <p:nvPr/>
        </p:nvSpPr>
        <p:spPr>
          <a:xfrm>
            <a:off x="1352775" y="2967575"/>
            <a:ext cx="10563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Ontología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(Estudio del ser y sus propiedades)</a:t>
            </a:r>
            <a:endParaRPr b="1"/>
          </a:p>
        </p:txBody>
      </p:sp>
      <p:sp>
        <p:nvSpPr>
          <p:cNvPr id="339" name="Google Shape;339;p54"/>
          <p:cNvSpPr txBox="1"/>
          <p:nvPr/>
        </p:nvSpPr>
        <p:spPr>
          <a:xfrm>
            <a:off x="3518850" y="506300"/>
            <a:ext cx="42126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/>
              <a:t>Como es el mundo</a:t>
            </a:r>
            <a:endParaRPr i="1" sz="1800"/>
          </a:p>
        </p:txBody>
      </p:sp>
      <p:pic>
        <p:nvPicPr>
          <p:cNvPr id="340" name="Google Shape;34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8450" y="1074894"/>
            <a:ext cx="2319450" cy="17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6525" y="1076013"/>
            <a:ext cx="2319450" cy="173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6525" y="2984975"/>
            <a:ext cx="2319450" cy="130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8450" y="2984971"/>
            <a:ext cx="2319450" cy="1739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sp>
        <p:nvSpPr>
          <p:cNvPr id="349" name="Google Shape;349;p55"/>
          <p:cNvSpPr txBox="1"/>
          <p:nvPr/>
        </p:nvSpPr>
        <p:spPr>
          <a:xfrm>
            <a:off x="4021375" y="532325"/>
            <a:ext cx="42126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/>
              <a:t>Como se conoce el mundo</a:t>
            </a:r>
            <a:endParaRPr i="1" sz="1800"/>
          </a:p>
        </p:txBody>
      </p:sp>
      <p:pic>
        <p:nvPicPr>
          <p:cNvPr id="350" name="Google Shape;3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25" y="1598725"/>
            <a:ext cx="1246350" cy="1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5"/>
          <p:cNvSpPr txBox="1"/>
          <p:nvPr/>
        </p:nvSpPr>
        <p:spPr>
          <a:xfrm>
            <a:off x="947725" y="2998175"/>
            <a:ext cx="1512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Epistemología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(</a:t>
            </a:r>
            <a:r>
              <a:rPr b="1" lang="es"/>
              <a:t>Estudia</a:t>
            </a:r>
            <a:r>
              <a:rPr lang="es" sz="11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b="1" lang="es"/>
              <a:t>los principios, fundamentos, extensión y métodos del conocimiento humano)</a:t>
            </a:r>
            <a:endParaRPr b="1"/>
          </a:p>
        </p:txBody>
      </p:sp>
      <p:pic>
        <p:nvPicPr>
          <p:cNvPr id="352" name="Google Shape;35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413" y="1229325"/>
            <a:ext cx="2056282" cy="146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1375" y="2908850"/>
            <a:ext cx="1952362" cy="14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1449" y="2998175"/>
            <a:ext cx="1512900" cy="15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14184" y="1340112"/>
            <a:ext cx="2515643" cy="12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61" name="Google Shape;36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375" y="1568125"/>
            <a:ext cx="1246350" cy="1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6"/>
          <p:cNvSpPr txBox="1"/>
          <p:nvPr/>
        </p:nvSpPr>
        <p:spPr>
          <a:xfrm>
            <a:off x="1002375" y="2967575"/>
            <a:ext cx="1512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Metodología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(Conjunto de métodos / Estudio de los métodos)</a:t>
            </a:r>
            <a:endParaRPr b="1"/>
          </a:p>
        </p:txBody>
      </p:sp>
      <p:sp>
        <p:nvSpPr>
          <p:cNvPr id="363" name="Google Shape;363;p56"/>
          <p:cNvSpPr txBox="1"/>
          <p:nvPr/>
        </p:nvSpPr>
        <p:spPr>
          <a:xfrm>
            <a:off x="4021375" y="532325"/>
            <a:ext cx="42126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/>
              <a:t>Métodos a utilizar para investigar el mundo</a:t>
            </a:r>
            <a:endParaRPr i="1" sz="1800"/>
          </a:p>
        </p:txBody>
      </p:sp>
      <p:pic>
        <p:nvPicPr>
          <p:cNvPr id="364" name="Google Shape;36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573" y="1505511"/>
            <a:ext cx="1512900" cy="1371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8550" y="1915500"/>
            <a:ext cx="1755425" cy="7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71" name="Google Shape;37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325" y="1552450"/>
            <a:ext cx="1246350" cy="12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7"/>
          <p:cNvSpPr txBox="1"/>
          <p:nvPr/>
        </p:nvSpPr>
        <p:spPr>
          <a:xfrm>
            <a:off x="1053875" y="2860725"/>
            <a:ext cx="15129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Etiología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(Estudio sobre la causa de las cosas)</a:t>
            </a:r>
            <a:endParaRPr b="1"/>
          </a:p>
        </p:txBody>
      </p:sp>
      <p:sp>
        <p:nvSpPr>
          <p:cNvPr id="373" name="Google Shape;373;p57"/>
          <p:cNvSpPr txBox="1"/>
          <p:nvPr/>
        </p:nvSpPr>
        <p:spPr>
          <a:xfrm>
            <a:off x="4021375" y="532325"/>
            <a:ext cx="42126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/>
              <a:t>Las causas subyacentes del mundo</a:t>
            </a:r>
            <a:endParaRPr i="1" sz="1800"/>
          </a:p>
        </p:txBody>
      </p:sp>
      <p:pic>
        <p:nvPicPr>
          <p:cNvPr id="374" name="Google Shape;37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300" y="1414325"/>
            <a:ext cx="2724749" cy="102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2825" y="2714325"/>
            <a:ext cx="2447215" cy="10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  <p:pic>
        <p:nvPicPr>
          <p:cNvPr id="381" name="Google Shape;38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263" y="1017725"/>
            <a:ext cx="7141468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8"/>
          <p:cNvSpPr txBox="1"/>
          <p:nvPr/>
        </p:nvSpPr>
        <p:spPr>
          <a:xfrm>
            <a:off x="183150" y="4731875"/>
            <a:ext cx="8777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/>
              <a:t>Tomado de Sousa (2010). Meta-Theories in Research: Positivism, Postmodernism, and Critical Realism</a:t>
            </a:r>
            <a:endParaRPr i="1"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ejemplos a partir de las lecturas: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	Positivismo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	Postpositivismo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	Interpretacionismo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</a:t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Metateorías: Positivismo</a:t>
            </a:r>
            <a:endParaRPr b="1"/>
          </a:p>
        </p:txBody>
      </p:sp>
      <p:sp>
        <p:nvSpPr>
          <p:cNvPr id="394" name="Google Shape;394;p60"/>
          <p:cNvSpPr txBox="1"/>
          <p:nvPr/>
        </p:nvSpPr>
        <p:spPr>
          <a:xfrm>
            <a:off x="402800" y="1115450"/>
            <a:ext cx="84294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</a:t>
            </a:r>
            <a:r>
              <a:rPr lang="es"/>
              <a:t>Típicamente</a:t>
            </a:r>
            <a:r>
              <a:rPr lang="es"/>
              <a:t> utilizado como un concepto más amplio para referirse a un grupo de escuelas de pensamientos y enfoques relacionados” (Lor, 2001, p. 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Empirismo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Cientismo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Determinismo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Reduccionismo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Principales críticas: Que 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reduccionista: Explica </a:t>
            </a:r>
            <a:r>
              <a:rPr lang="es"/>
              <a:t>fenómenos</a:t>
            </a:r>
            <a:r>
              <a:rPr lang="es"/>
              <a:t> complejos a través de simplificaciones. leyes, modelos. Generalización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deterministas: Se pueden establecer reglas generales que incluso se pueden aplicar al comportamiento humano, instituciones, etc. Si ciertas condiciones se cumplen, se puede conocer el resultado/efecto.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ingeniudad: Ejemplo Twitter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Metateorías: Postpositivismo</a:t>
            </a:r>
            <a:endParaRPr b="1"/>
          </a:p>
        </p:txBody>
      </p:sp>
      <p:sp>
        <p:nvSpPr>
          <p:cNvPr id="400" name="Google Shape;400;p61"/>
          <p:cNvSpPr txBox="1"/>
          <p:nvPr/>
        </p:nvSpPr>
        <p:spPr>
          <a:xfrm>
            <a:off x="402800" y="1115450"/>
            <a:ext cx="84294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“Reacción/Respuesta al positivismo, una adaptación de éste, una alternativa a éste, un </a:t>
            </a:r>
            <a:r>
              <a:rPr lang="es"/>
              <a:t>término</a:t>
            </a:r>
            <a:r>
              <a:rPr lang="es"/>
              <a:t> más general para referirse a todas las alternativas ” (Lor, 2001, p. 4):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Contraste con los cambios </a:t>
            </a:r>
            <a:r>
              <a:rPr lang="es"/>
              <a:t>paradigmáticos</a:t>
            </a:r>
            <a:r>
              <a:rPr lang="es"/>
              <a:t> que se suscitaron en las ciencias naturales. Ciertos paradigmas no eran capaces de explicar fenómenos universales.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clásico, paradigmas vigentes no resultan apropiados para entender ciertos fenómenos.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seres humanos, las sociedades, las </a:t>
            </a:r>
            <a:r>
              <a:rPr lang="es"/>
              <a:t>instituciones</a:t>
            </a:r>
            <a:r>
              <a:rPr lang="es"/>
              <a:t> son complejas.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que tienen en común el positivismo y el postpositivismo es que “existe una única realidad que es externa al observador” </a:t>
            </a:r>
            <a:r>
              <a:rPr lang="es">
                <a:solidFill>
                  <a:schemeClr val="dk1"/>
                </a:solidFill>
              </a:rPr>
              <a:t>(Lor, 2001, p. 4)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Sin embargo el postpositivismo “es mucho más sutil en sus afirmaciones de verdad. En ciencias sociales la verdad no es absoluta sino que probabilística y provisional. Observadores pueden ser influenciados por lo que observan” (Lor, 2001, p. 4) Importancia entonces de la triangulación.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Metateorías: Interpretacionismo</a:t>
            </a:r>
            <a:endParaRPr b="1"/>
          </a:p>
        </p:txBody>
      </p:sp>
      <p:sp>
        <p:nvSpPr>
          <p:cNvPr id="406" name="Google Shape;406;p62"/>
          <p:cNvSpPr txBox="1"/>
          <p:nvPr/>
        </p:nvSpPr>
        <p:spPr>
          <a:xfrm>
            <a:off x="402800" y="1115450"/>
            <a:ext cx="84294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alternativa al positivismo.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Término </a:t>
            </a:r>
            <a:r>
              <a:rPr lang="es"/>
              <a:t>amplio</a:t>
            </a:r>
            <a:r>
              <a:rPr lang="es"/>
              <a:t> para referirse a varias otras metateorías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Típicamente ligado a la investigación cualitativa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investigador y lo investigado no son independientes. Son inseparables. Lo observado está ligado a nuestra experiencia.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Realidades múltiples. </a:t>
            </a:r>
            <a:r>
              <a:rPr lang="es"/>
              <a:t>Conocimiento del mundo es el resultado de un proceso intencional por parte del investigador para hacer sentido del mundo.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  <p:sp>
        <p:nvSpPr>
          <p:cNvPr id="412" name="Google Shape;412;p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Basado en Capítulo 2 de Hernández, Fernández, &amp; Baptista, 2010)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  <p:pic>
        <p:nvPicPr>
          <p:cNvPr id="418" name="Google Shape;4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575" y="1117275"/>
            <a:ext cx="65526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  <p:sp>
        <p:nvSpPr>
          <p:cNvPr id="424" name="Google Shape;424;p65"/>
          <p:cNvSpPr txBox="1"/>
          <p:nvPr/>
        </p:nvSpPr>
        <p:spPr>
          <a:xfrm>
            <a:off x="493200" y="1409175"/>
            <a:ext cx="84375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“Las ideas constituyen el primer acercamiento a la realidad objetiva (desde la perspectiva cuantitativa), a la realidad subjetiva (desde la perspectiva cualitativa) o a la realidad intersubjetiva (desde la óptica mixta) que habrá de investigarse.” ( Hernández, Fernández, &amp; Baptista, 2010, p. 26)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Fuentes de ideas para una investigación:</a:t>
            </a:r>
            <a:endParaRPr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Experiencias individuales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Materiales escritos (libros, artículos, notas, tesis)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Materiales audiovisuales (radio, televisión)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Material en línea (La Web)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Teorías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Descubrimientos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Conversaciones personales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Observaciones de hechos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Creencias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Intuiciones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Presentimientos</a:t>
            </a:r>
            <a:endParaRPr sz="1600"/>
          </a:p>
        </p:txBody>
      </p:sp>
      <p:sp>
        <p:nvSpPr>
          <p:cNvPr id="430" name="Google Shape;43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Fuentes de ideas para una investigación:</a:t>
            </a:r>
            <a:endParaRPr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fuente de la idea no se relaciona con la calidad de ésta última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idea se puede refinar, socializar, precisar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 idea se puede soportar con la literatura</a:t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/>
              <a:t>¿Qué ideas tienen ustedes en estos momentos que podrían servir como tópico de investigación?</a:t>
            </a:r>
            <a:endParaRPr b="1"/>
          </a:p>
        </p:txBody>
      </p:sp>
      <p:sp>
        <p:nvSpPr>
          <p:cNvPr id="436" name="Google Shape;43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 surgen las ideas de investigación</a:t>
            </a:r>
            <a:endParaRPr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Serendipidad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Conversaciones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 partir de la lectura de una noticia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Mientras navegan por internet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Procrastinando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Ej: “Una alumna japonesa de una maestría en desarrollo humano inició un estudio con mujeres de 35 a 55 años que enviudaron recientemente, para analizar el efecto psicológico que tiene el perder al esposo, porque una de sus mejores amigas había sufrido tal pérdida y a ella le correspondió brindarle apoyo (Miura, 2001). Esta experiencia fue casual, pero motivó un profundo estudio.” (Hernández, Fernández, &amp; Baptista, 2010, p. 26)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42" name="Google Shape;44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Las ideas iniciales suelen ser vagas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Requieren análisis cuidadoso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Puede convertirse en planteamientos precisos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Durante el desarrollo de una idea es preciso familiarizarse con el campo de conocimiento donde se ubica la idea.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Conocer antecedentes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Revisión de la literatura: Investigación previa del tema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 sz="1600"/>
              <a:t>Temas ya investigados, estructurados, formalizados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 sz="1600"/>
              <a:t>Temas ya investigados pero menos estructurados y formalizados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 sz="1600"/>
              <a:t>Tema poco investigado y poco estructurado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s" sz="1600"/>
              <a:t>Temas no investigados</a:t>
            </a:r>
            <a:endParaRPr sz="1600"/>
          </a:p>
        </p:txBody>
      </p:sp>
      <p:sp>
        <p:nvSpPr>
          <p:cNvPr id="448" name="Google Shape;44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Criterios para generar y seleccionar ideas</a:t>
            </a:r>
            <a:endParaRPr/>
          </a:p>
          <a:p>
            <a:pPr indent="-3302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s" sz="1600"/>
              <a:t>Las buenas ideas intrigan, alientan  y excitan al investigador de manera personal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Las buenas ideas de investigación “no son necesariamente nuevas, pero sí novedosas”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Las buenas ideas de investigación pueden servir para elaborar teorías y solucionar problemas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4" name="Google Shape;454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/>
              <a:t>Orígenes de investigaciones científicas</a:t>
            </a:r>
            <a:endParaRPr b="1"/>
          </a:p>
        </p:txBody>
      </p:sp>
      <p:pic>
        <p:nvPicPr>
          <p:cNvPr id="460" name="Google Shape;46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938" y="1134875"/>
            <a:ext cx="734613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